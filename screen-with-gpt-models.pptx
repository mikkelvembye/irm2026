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21"/>
  </p:notesMasterIdLst>
  <p:sldIdLst>
    <p:sldId id="509" r:id="rId2"/>
    <p:sldId id="524" r:id="rId3"/>
    <p:sldId id="541" r:id="rId4"/>
    <p:sldId id="542" r:id="rId5"/>
    <p:sldId id="556" r:id="rId6"/>
    <p:sldId id="543" r:id="rId7"/>
    <p:sldId id="558" r:id="rId8"/>
    <p:sldId id="546" r:id="rId9"/>
    <p:sldId id="547" r:id="rId10"/>
    <p:sldId id="549" r:id="rId11"/>
    <p:sldId id="553" r:id="rId12"/>
    <p:sldId id="554" r:id="rId13"/>
    <p:sldId id="557" r:id="rId14"/>
    <p:sldId id="545" r:id="rId15"/>
    <p:sldId id="544" r:id="rId16"/>
    <p:sldId id="548" r:id="rId17"/>
    <p:sldId id="536" r:id="rId18"/>
    <p:sldId id="555" r:id="rId19"/>
    <p:sldId id="551" r:id="rId2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æsentation" id="{EC8D721B-D26D-4528-A368-F016EC523C43}">
          <p14:sldIdLst/>
        </p14:section>
        <p14:section name="Vejledning og genbrug" id="{647B08C0-F575-425E-9EB3-C6B7AA8D3B0A}">
          <p14:sldIdLst>
            <p14:sldId id="509"/>
            <p14:sldId id="524"/>
            <p14:sldId id="541"/>
            <p14:sldId id="542"/>
            <p14:sldId id="556"/>
            <p14:sldId id="543"/>
            <p14:sldId id="558"/>
            <p14:sldId id="546"/>
            <p14:sldId id="547"/>
            <p14:sldId id="549"/>
            <p14:sldId id="553"/>
            <p14:sldId id="554"/>
            <p14:sldId id="557"/>
            <p14:sldId id="545"/>
            <p14:sldId id="544"/>
            <p14:sldId id="548"/>
            <p14:sldId id="536"/>
            <p14:sldId id="555"/>
            <p14:sldId id="55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83787" autoAdjust="0"/>
  </p:normalViewPr>
  <p:slideViewPr>
    <p:cSldViewPr snapToGrid="0">
      <p:cViewPr varScale="1">
        <p:scale>
          <a:sx n="88" d="100"/>
          <a:sy n="88" d="100"/>
        </p:scale>
        <p:origin x="10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B8190-3B91-4E7B-8634-E458355F2E20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GB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50FAE-CBEA-4494-871D-803C25DC58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49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6069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I expect to give you a 30-minute presentation of the background and screening framework, and then we will spend the last hour on the AIscreenR demonstration.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50FAE-CBEA-4494-871D-803C25DC58A1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2003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Human screeners overlook relevant studies for various reasons. Therefore, state-of-the-art is to conduct human double-screening. However, this is costly and many research groups cannot afford double-screening.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Overlooking relevant studies at this initial review stage can be consequential, leading to substantially biased results.</a:t>
            </a:r>
            <a:endParaRPr lang="da-DK" dirty="0"/>
          </a:p>
          <a:p>
            <a:endParaRPr lang="da-DK" dirty="0"/>
          </a:p>
          <a:p>
            <a:r>
              <a:rPr lang="da-DK" dirty="0"/>
              <a:t>AI </a:t>
            </a:r>
            <a:r>
              <a:rPr lang="da-DK" dirty="0" err="1"/>
              <a:t>tools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accommodate</a:t>
            </a:r>
            <a:r>
              <a:rPr lang="da-DK" dirty="0"/>
              <a:t> </a:t>
            </a:r>
            <a:r>
              <a:rPr lang="da-DK" dirty="0" err="1"/>
              <a:t>both</a:t>
            </a:r>
            <a:r>
              <a:rPr lang="da-DK" dirty="0"/>
              <a:t> type of issues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50FAE-CBEA-4494-871D-803C25DC58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751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dirty="0"/>
              <a:t>As you will see in a moment, this is NOT the same as using ChatGPT!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50FAE-CBEA-4494-871D-803C25DC58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943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sufficiently powerful computer, you can screen up to 30,000 per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50FAE-CBEA-4494-871D-803C25DC58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025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discussing</a:t>
            </a:r>
            <a:r>
              <a:rPr lang="da-DK" dirty="0"/>
              <a:t> the screening performance of AI </a:t>
            </a:r>
            <a:r>
              <a:rPr lang="da-DK" dirty="0" err="1"/>
              <a:t>tools</a:t>
            </a:r>
            <a:r>
              <a:rPr lang="da-DK" dirty="0"/>
              <a:t>, I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spent</a:t>
            </a:r>
            <a:r>
              <a:rPr lang="da-DK" dirty="0"/>
              <a:t> </a:t>
            </a:r>
            <a:r>
              <a:rPr lang="da-DK" dirty="0" err="1"/>
              <a:t>some</a:t>
            </a:r>
            <a:r>
              <a:rPr lang="da-DK" dirty="0"/>
              <a:t> time </a:t>
            </a:r>
            <a:r>
              <a:rPr lang="da-DK" dirty="0" err="1"/>
              <a:t>embarking</a:t>
            </a:r>
            <a:r>
              <a:rPr lang="da-DK" dirty="0"/>
              <a:t> the </a:t>
            </a:r>
            <a:r>
              <a:rPr lang="da-DK" dirty="0" err="1"/>
              <a:t>question</a:t>
            </a:r>
            <a:r>
              <a:rPr lang="da-DK" dirty="0"/>
              <a:t>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good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human at screening </a:t>
            </a:r>
            <a:r>
              <a:rPr lang="da-DK" dirty="0" err="1"/>
              <a:t>title</a:t>
            </a:r>
            <a:r>
              <a:rPr lang="da-DK" dirty="0"/>
              <a:t> and abstract.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50FAE-CBEA-4494-871D-803C25DC58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677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discussing</a:t>
            </a:r>
            <a:r>
              <a:rPr lang="da-DK" dirty="0"/>
              <a:t> the screening performance of AI </a:t>
            </a:r>
            <a:r>
              <a:rPr lang="da-DK" dirty="0" err="1"/>
              <a:t>tools</a:t>
            </a:r>
            <a:r>
              <a:rPr lang="da-DK" dirty="0"/>
              <a:t>, I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spent</a:t>
            </a:r>
            <a:r>
              <a:rPr lang="da-DK" dirty="0"/>
              <a:t> </a:t>
            </a:r>
            <a:r>
              <a:rPr lang="da-DK" dirty="0" err="1"/>
              <a:t>some</a:t>
            </a:r>
            <a:r>
              <a:rPr lang="da-DK" dirty="0"/>
              <a:t> time </a:t>
            </a:r>
            <a:r>
              <a:rPr lang="da-DK" dirty="0" err="1"/>
              <a:t>embarking</a:t>
            </a:r>
            <a:r>
              <a:rPr lang="da-DK" dirty="0"/>
              <a:t> the </a:t>
            </a:r>
            <a:r>
              <a:rPr lang="da-DK" dirty="0" err="1"/>
              <a:t>question</a:t>
            </a:r>
            <a:r>
              <a:rPr lang="da-DK" dirty="0"/>
              <a:t>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good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human at screening </a:t>
            </a:r>
            <a:r>
              <a:rPr lang="da-DK" dirty="0" err="1"/>
              <a:t>title</a:t>
            </a:r>
            <a:r>
              <a:rPr lang="da-DK" dirty="0"/>
              <a:t> and abstract.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50FAE-CBEA-4494-871D-803C25DC58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731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AI </a:t>
            </a:r>
            <a:r>
              <a:rPr lang="da-DK" dirty="0" err="1"/>
              <a:t>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F50FAE-CBEA-4494-871D-803C25DC58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624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5.sv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nktopstilling sort 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Overskrift	</a:t>
            </a:r>
          </a:p>
        </p:txBody>
      </p:sp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2EFC7BB6-9278-46D3-84A7-346EDA7CB3B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672"/>
            <a:ext cx="10158611" cy="3650404"/>
          </a:xfrm>
        </p:spPr>
        <p:txBody>
          <a:bodyPr anchor="t">
            <a:no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800">
                <a:solidFill>
                  <a:schemeClr val="tx1"/>
                </a:solidFill>
              </a:defRPr>
            </a:lvl1pPr>
            <a:lvl2pPr marL="603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600">
                <a:solidFill>
                  <a:schemeClr val="tx1"/>
                </a:solidFill>
              </a:defRPr>
            </a:lvl2pPr>
            <a:lvl3pPr marL="920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400">
                <a:solidFill>
                  <a:schemeClr val="tx1"/>
                </a:solidFill>
              </a:defRPr>
            </a:lvl3pPr>
            <a:lvl4pPr marL="1238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200">
                <a:solidFill>
                  <a:schemeClr val="tx1"/>
                </a:solidFill>
              </a:defRPr>
            </a:lvl4pPr>
            <a:lvl5pPr marL="155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/>
              </a:buBlip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6" name="Tekstfelt 5"/>
          <p:cNvSpPr txBox="1"/>
          <p:nvPr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Fremhæv vigtige ord med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272F950F-4BDF-93B3-3C5D-CF963D2A87B6}"/>
              </a:ext>
            </a:extLst>
          </p:cNvPr>
          <p:cNvSpPr txBox="1"/>
          <p:nvPr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Fremhæv vigtige ord med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52F34172-C541-1918-10DF-36AEB2AF39FF}"/>
              </a:ext>
            </a:extLst>
          </p:cNvPr>
          <p:cNvSpPr txBox="1"/>
          <p:nvPr userDrawn="1"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Fremhæv vigtige ord med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50571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nktopstilling rødt 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34005D5-500C-2547-B140-067EB39CC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672"/>
            <a:ext cx="10158611" cy="3650404"/>
          </a:xfrm>
        </p:spPr>
        <p:txBody>
          <a:bodyPr anchor="t">
            <a:no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>
                <a:solidFill>
                  <a:schemeClr val="tx1"/>
                </a:solidFill>
              </a:defRPr>
            </a:lvl1pPr>
            <a:lvl2pPr marL="603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600">
                <a:solidFill>
                  <a:schemeClr val="tx1"/>
                </a:solidFill>
              </a:defRPr>
            </a:lvl2pPr>
            <a:lvl3pPr marL="920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>
                <a:solidFill>
                  <a:schemeClr val="tx1"/>
                </a:solidFill>
              </a:defRPr>
            </a:lvl3pPr>
            <a:lvl4pPr marL="1238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200">
                <a:solidFill>
                  <a:schemeClr val="tx1"/>
                </a:solidFill>
              </a:defRPr>
            </a:lvl4pPr>
            <a:lvl5pPr marL="155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7" name="Tekstfelt 6"/>
          <p:cNvSpPr txBox="1"/>
          <p:nvPr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Fremhæv vigtige ord med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4134AF3A-E196-85FE-57A4-EAEC3C1408A9}"/>
              </a:ext>
            </a:extLst>
          </p:cNvPr>
          <p:cNvSpPr txBox="1"/>
          <p:nvPr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Fremhæv vigtige ord med</a:t>
            </a: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E283DDA0-23C3-7444-CB84-6DDA65486744}"/>
              </a:ext>
            </a:extLst>
          </p:cNvPr>
          <p:cNvSpPr txBox="1"/>
          <p:nvPr userDrawn="1"/>
        </p:nvSpPr>
        <p:spPr>
          <a:xfrm>
            <a:off x="-1828800" y="0"/>
            <a:ext cx="1673363" cy="14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t">
            <a:noAutofit/>
          </a:bodyPr>
          <a:lstStyle/>
          <a:p>
            <a:pPr marL="0" marR="0" indent="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a-DK" sz="9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Den gode punktopstilling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Højst 6 punkter pr. slide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a-DK" sz="9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r" panose="020B0502030000000004" pitchFamily="34" charset="0"/>
                <a:sym typeface="Inter"/>
              </a:rPr>
              <a:t>Højst 2 linjer pr. punkt</a:t>
            </a:r>
          </a:p>
          <a:p>
            <a:pPr marL="285750" marR="0" indent="-285750" defTabSz="412750" rtl="0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Fremhæv vigtige ord med</a:t>
            </a:r>
            <a:r>
              <a:rPr lang="da-DK" sz="900" dirty="0">
                <a:solidFill>
                  <a:schemeClr val="bg1"/>
                </a:solidFill>
                <a:latin typeface="+mn-lt"/>
                <a:ea typeface="Inter" panose="020B0502030000000004" pitchFamily="34" charset="0"/>
              </a:rPr>
              <a:t> </a:t>
            </a:r>
            <a:r>
              <a:rPr lang="da-DK" sz="900" dirty="0">
                <a:solidFill>
                  <a:schemeClr val="accent1"/>
                </a:solidFill>
                <a:latin typeface="+mn-lt"/>
                <a:ea typeface="Inter" panose="020B0502030000000004" pitchFamily="34" charset="0"/>
              </a:rPr>
              <a:t>VIVE-rød </a:t>
            </a:r>
            <a:r>
              <a:rPr lang="da-DK" sz="900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– ikke med </a:t>
            </a:r>
            <a:r>
              <a:rPr lang="da-DK" sz="900" b="1" dirty="0">
                <a:solidFill>
                  <a:schemeClr val="tx1"/>
                </a:solidFill>
                <a:latin typeface="+mn-lt"/>
                <a:ea typeface="Inter" panose="020B0502030000000004" pitchFamily="34" charset="0"/>
              </a:rPr>
              <a:t>fed</a:t>
            </a:r>
            <a:endParaRPr kumimoji="0" lang="da-DK" sz="9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r" panose="020B0502030000000004" pitchFamily="34" charset="0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77870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73558F5-EBAE-6648-ABED-DCED00FA234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13619" y="2194200"/>
            <a:ext cx="10165556" cy="36504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/>
            </a:lvl2pPr>
            <a:lvl3pPr marL="635000" indent="0">
              <a:lnSpc>
                <a:spcPct val="100000"/>
              </a:lnSpc>
              <a:buNone/>
              <a:defRPr sz="1800"/>
            </a:lvl3pPr>
            <a:lvl4pPr marL="952500" indent="0">
              <a:lnSpc>
                <a:spcPct val="100000"/>
              </a:lnSpc>
              <a:buNone/>
              <a:defRPr sz="1800"/>
            </a:lvl4pPr>
            <a:lvl5pPr marL="1270000" indent="0"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A74A57FE-ADEE-778E-61CB-9508D6E0FC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58349D72-5C1D-0C7A-E004-CDACE43F5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6B5E6D29-0281-12EF-5197-FDAB1E9F3C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37C97A0F-3755-C3B4-075E-6B31825729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06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punktopstilling rødt V,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400" y="1013400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6F6B6B0-61C0-3541-9DE1-2AC08F22602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Pladsholder til tekst 2">
            <a:extLst>
              <a:ext uri="{FF2B5EF4-FFF2-40B4-BE49-F238E27FC236}">
                <a16:creationId xmlns:a16="http://schemas.microsoft.com/office/drawing/2014/main" id="{5A10D5FA-E346-67ED-328D-AE1603A7F6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672"/>
            <a:ext cx="4842000" cy="3650404"/>
          </a:xfrm>
        </p:spPr>
        <p:txBody>
          <a:bodyPr anchor="t">
            <a:no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800">
                <a:solidFill>
                  <a:schemeClr val="tx1"/>
                </a:solidFill>
              </a:defRPr>
            </a:lvl1pPr>
            <a:lvl2pPr marL="603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600">
                <a:solidFill>
                  <a:schemeClr val="tx1"/>
                </a:solidFill>
              </a:defRPr>
            </a:lvl2pPr>
            <a:lvl3pPr marL="920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solidFill>
                  <a:schemeClr val="tx1"/>
                </a:solidFill>
              </a:defRPr>
            </a:lvl3pPr>
            <a:lvl4pPr marL="1238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200">
                <a:solidFill>
                  <a:schemeClr val="tx1"/>
                </a:solidFill>
              </a:defRPr>
            </a:lvl4pPr>
            <a:lvl5pPr marL="155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E18D1A8-023A-45A8-5FC3-68AAC943C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6481" y="2194200"/>
            <a:ext cx="4842694" cy="36504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/>
            </a:lvl2pPr>
            <a:lvl3pPr marL="635000" indent="0">
              <a:lnSpc>
                <a:spcPct val="100000"/>
              </a:lnSpc>
              <a:buNone/>
              <a:defRPr sz="1800"/>
            </a:lvl3pPr>
            <a:lvl4pPr marL="952500" indent="0">
              <a:lnSpc>
                <a:spcPct val="100000"/>
              </a:lnSpc>
              <a:buNone/>
              <a:defRPr sz="1800"/>
            </a:lvl4pPr>
            <a:lvl5pPr marL="1270000" indent="0"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C89408E-FCB7-2E70-B571-A9D208EAA2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65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øjrebillede + tekst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9"/>
          <p:cNvSpPr>
            <a:spLocks noGrp="1"/>
          </p:cNvSpPr>
          <p:nvPr>
            <p:ph type="pic" sz="quarter" idx="13" hasCustomPrompt="1"/>
          </p:nvPr>
        </p:nvSpPr>
        <p:spPr>
          <a:xfrm>
            <a:off x="5586198" y="0"/>
            <a:ext cx="660580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indent="0">
              <a:buFontTx/>
              <a:buNone/>
              <a:defRPr b="0" i="0" baseline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603E00D8-5F1B-924E-87D4-4FF40B6473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9142" y="3886534"/>
            <a:ext cx="4692946" cy="2017310"/>
          </a:xfrm>
        </p:spPr>
        <p:txBody>
          <a:bodyPr lIns="50400" tIns="50400" rIns="50400" numCol="1" spcCol="684000" anchor="t">
            <a:noAutofit/>
          </a:bodyPr>
          <a:lstStyle>
            <a:lvl1pPr marL="0" indent="0">
              <a:lnSpc>
                <a:spcPct val="100000"/>
              </a:lnSpc>
              <a:buNone/>
              <a:defRPr sz="1800" b="0" spc="0">
                <a:latin typeface="+mn-lt"/>
              </a:defRPr>
            </a:lvl1pPr>
            <a:lvl2pPr marL="317500" indent="0">
              <a:lnSpc>
                <a:spcPct val="100000"/>
              </a:lnSpc>
              <a:buNone/>
              <a:defRPr sz="1800" b="0" spc="0">
                <a:latin typeface="+mn-lt"/>
              </a:defRPr>
            </a:lvl2pPr>
            <a:lvl3pPr marL="635000" indent="0">
              <a:lnSpc>
                <a:spcPct val="100000"/>
              </a:lnSpc>
              <a:buNone/>
              <a:defRPr sz="1800" b="0" spc="0">
                <a:latin typeface="+mn-lt"/>
              </a:defRPr>
            </a:lvl3pPr>
            <a:lvl4pPr marL="952500" indent="0">
              <a:lnSpc>
                <a:spcPct val="100000"/>
              </a:lnSpc>
              <a:buNone/>
              <a:defRPr sz="1800" spc="0"/>
            </a:lvl4pPr>
            <a:lvl5pPr marL="1270000" indent="0">
              <a:lnSpc>
                <a:spcPct val="100000"/>
              </a:lnSpc>
              <a:buNone/>
              <a:defRPr sz="1800" spc="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BC776EE-7B73-1442-BC6B-258BEEAB224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42" y="5936036"/>
            <a:ext cx="1078582" cy="739028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579142" y="1663460"/>
            <a:ext cx="4692946" cy="2172975"/>
          </a:xfrm>
        </p:spPr>
        <p:txBody>
          <a:bodyPr/>
          <a:lstStyle/>
          <a:p>
            <a:pPr lvl="0"/>
            <a:r>
              <a:rPr lang="da-DK" noProof="0" dirty="0"/>
              <a:t>Overskrift</a:t>
            </a:r>
          </a:p>
        </p:txBody>
      </p:sp>
      <p:sp>
        <p:nvSpPr>
          <p:cNvPr id="13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marL="0" marR="0" lvl="0" indent="0" algn="l" defTabSz="4127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900" b="0" i="0" u="none" strike="noStrike" cap="none" spc="0" normalizeH="0" baseline="0" noProof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rial" charset="0"/>
                <a:ea typeface="+mn-ea"/>
                <a:cs typeface="Arial" panose="020B0604020202020204" pitchFamily="34" charset="0"/>
                <a:sym typeface="Inter"/>
              </a:rPr>
              <a:t>M:\Fotos\Powerpoint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020FC121-623F-39CF-0599-1AC91D89E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marL="0" marR="0" lvl="0" indent="0" algn="l" defTabSz="4127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900" b="0" i="0" u="none" strike="noStrike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charset="0"/>
                <a:ea typeface="+mn-ea"/>
                <a:cs typeface="Arial" panose="020B0604020202020204" pitchFamily="34" charset="0"/>
                <a:sym typeface="Inter"/>
              </a:rPr>
              <a:t>M:\Fotos\Powerpoint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>
            <a:extLst>
              <a:ext uri="{FF2B5EF4-FFF2-40B4-BE49-F238E27FC236}">
                <a16:creationId xmlns:a16="http://schemas.microsoft.com/office/drawing/2014/main" id="{ED871E23-221A-E6B9-D482-6EF1B0540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90538F6E-6B17-DB92-60A8-64FA5DAFA0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9" name="Billede 37">
            <a:extLst>
              <a:ext uri="{FF2B5EF4-FFF2-40B4-BE49-F238E27FC236}">
                <a16:creationId xmlns:a16="http://schemas.microsoft.com/office/drawing/2014/main" id="{35A2C7E8-4BEA-8CCE-4464-C1279EAE01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0FE71A3C-0AA0-6E31-B240-33617BA6E3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42" y="5936036"/>
            <a:ext cx="1078582" cy="739028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17942538-AC0B-49E6-AC61-23F1832801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marL="0" marR="0" lvl="0" indent="0" algn="l" defTabSz="41275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900" b="0" i="0" u="none" strike="noStrike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charset="0"/>
                <a:ea typeface="+mn-ea"/>
                <a:cs typeface="Arial" panose="020B0604020202020204" pitchFamily="34" charset="0"/>
                <a:sym typeface="Inter"/>
              </a:rPr>
              <a:t>M:\Fotos\Powerpoint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8578A28A-03F4-CFEE-BE9B-B4BB53112BD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CF45CFCF-4F78-CB4F-5332-CEB59C3799F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>
            <a:extLst>
              <a:ext uri="{FF2B5EF4-FFF2-40B4-BE49-F238E27FC236}">
                <a16:creationId xmlns:a16="http://schemas.microsoft.com/office/drawing/2014/main" id="{B16D0F57-B6D9-47EC-4020-E816086756E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1415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øjrebillede + tekst, rød">
    <p:bg>
      <p:bgPr>
        <a:solidFill>
          <a:srgbClr val="BF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9"/>
          <p:cNvSpPr>
            <a:spLocks noGrp="1"/>
          </p:cNvSpPr>
          <p:nvPr>
            <p:ph type="pic" sz="quarter" idx="13" hasCustomPrompt="1"/>
          </p:nvPr>
        </p:nvSpPr>
        <p:spPr>
          <a:xfrm>
            <a:off x="5586198" y="0"/>
            <a:ext cx="660580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indent="0">
              <a:buFontTx/>
              <a:buNone/>
              <a:defRPr b="0" i="0" baseline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82BECF1A-E566-764A-8530-25CC511C9F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069" y="2731168"/>
            <a:ext cx="4524851" cy="342833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50069" y="431800"/>
            <a:ext cx="4524851" cy="21237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5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7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1132204F-1F75-4691-4619-59F1FAC72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C8CF85E4-D2E5-9B16-A084-221552AB3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7" name="Billede 36">
            <a:extLst>
              <a:ext uri="{FF2B5EF4-FFF2-40B4-BE49-F238E27FC236}">
                <a16:creationId xmlns:a16="http://schemas.microsoft.com/office/drawing/2014/main" id="{3EA335CB-072C-71F1-7300-80AE43EC0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8" name="Billede 37">
            <a:extLst>
              <a:ext uri="{FF2B5EF4-FFF2-40B4-BE49-F238E27FC236}">
                <a16:creationId xmlns:a16="http://schemas.microsoft.com/office/drawing/2014/main" id="{E6ECE366-C5EC-4150-84C0-09D19963D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9" name="Text Box 48">
            <a:extLst>
              <a:ext uri="{FF2B5EF4-FFF2-40B4-BE49-F238E27FC236}">
                <a16:creationId xmlns:a16="http://schemas.microsoft.com/office/drawing/2014/main" id="{2E1F27ED-BA06-247E-CD32-FC1D3CCA3E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FE2A60CF-4AF0-4BD0-D12A-E953A96A59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1" name="Billede 36">
            <a:extLst>
              <a:ext uri="{FF2B5EF4-FFF2-40B4-BE49-F238E27FC236}">
                <a16:creationId xmlns:a16="http://schemas.microsoft.com/office/drawing/2014/main" id="{478B2C41-797D-0EAE-C276-3E7CE60B9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2" name="Billede 37">
            <a:extLst>
              <a:ext uri="{FF2B5EF4-FFF2-40B4-BE49-F238E27FC236}">
                <a16:creationId xmlns:a16="http://schemas.microsoft.com/office/drawing/2014/main" id="{3490CB63-1617-02E5-914C-FEDE6DEFEBC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4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øjrebillede + tekst, blå">
    <p:bg>
      <p:bgPr>
        <a:solidFill>
          <a:srgbClr val="004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9"/>
          <p:cNvSpPr>
            <a:spLocks noGrp="1"/>
          </p:cNvSpPr>
          <p:nvPr>
            <p:ph type="pic" sz="quarter" idx="13" hasCustomPrompt="1"/>
          </p:nvPr>
        </p:nvSpPr>
        <p:spPr>
          <a:xfrm>
            <a:off x="5586198" y="0"/>
            <a:ext cx="660580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indent="0">
              <a:buFontTx/>
              <a:buNone/>
              <a:defRPr b="0" i="0" baseline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82BECF1A-E566-764A-8530-25CC511C9F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069" y="2731168"/>
            <a:ext cx="4448651" cy="3277747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50069" y="411731"/>
            <a:ext cx="4448651" cy="21673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5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7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3E54049E-89C3-4AED-500B-07A48696B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8197943D-BD3F-5C0F-545A-334C188B1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7" name="Billede 36">
            <a:extLst>
              <a:ext uri="{FF2B5EF4-FFF2-40B4-BE49-F238E27FC236}">
                <a16:creationId xmlns:a16="http://schemas.microsoft.com/office/drawing/2014/main" id="{070DE99C-EBBC-ABA2-9E2E-4F232CD86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8" name="Billede 37">
            <a:extLst>
              <a:ext uri="{FF2B5EF4-FFF2-40B4-BE49-F238E27FC236}">
                <a16:creationId xmlns:a16="http://schemas.microsoft.com/office/drawing/2014/main" id="{4DF71337-A0BA-EBE9-21EA-41AC31738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9" name="Text Box 48">
            <a:extLst>
              <a:ext uri="{FF2B5EF4-FFF2-40B4-BE49-F238E27FC236}">
                <a16:creationId xmlns:a16="http://schemas.microsoft.com/office/drawing/2014/main" id="{FB8E2AB2-2470-F90B-BF9A-2ECB83E182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9247E966-D2FA-534B-320C-C85A9AEDE5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1" name="Billede 36">
            <a:extLst>
              <a:ext uri="{FF2B5EF4-FFF2-40B4-BE49-F238E27FC236}">
                <a16:creationId xmlns:a16="http://schemas.microsoft.com/office/drawing/2014/main" id="{0800E180-03BE-BC5D-1004-C71BE3A4C3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2" name="Billede 37">
            <a:extLst>
              <a:ext uri="{FF2B5EF4-FFF2-40B4-BE49-F238E27FC236}">
                <a16:creationId xmlns:a16="http://schemas.microsoft.com/office/drawing/2014/main" id="{589397B3-8D7E-42A4-77F4-D18DEC26C3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07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rt logo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>
            <a:extLst>
              <a:ext uri="{FF2B5EF4-FFF2-40B4-BE49-F238E27FC236}">
                <a16:creationId xmlns:a16="http://schemas.microsoft.com/office/drawing/2014/main" id="{2A4820CB-DDF5-0A4F-A393-ACAFC311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77B2E16E-59F3-5048-9CC5-40F4F2A301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41322" y="2997868"/>
            <a:ext cx="5121359" cy="316163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E0FC86AB-13ED-6F47-A81A-66B763240835}"/>
              </a:ext>
            </a:extLst>
          </p:cNvPr>
          <p:cNvSpPr/>
          <p:nvPr/>
        </p:nvSpPr>
        <p:spPr>
          <a:xfrm>
            <a:off x="0" y="0"/>
            <a:ext cx="5463540" cy="6858000"/>
          </a:xfrm>
          <a:prstGeom prst="rect">
            <a:avLst/>
          </a:prstGeom>
          <a:solidFill>
            <a:srgbClr val="EFEFEF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Inter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C1E835C-5B79-FF45-B9AF-CC1A66264E1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82" y="1975574"/>
            <a:ext cx="4242433" cy="2906852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88D5ADAD-A202-4F0C-A0A3-37D4E35BB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326FD02F-0434-4F13-845C-4D8E05DA4DCC}"/>
              </a:ext>
            </a:extLst>
          </p:cNvPr>
          <p:cNvSpPr/>
          <p:nvPr/>
        </p:nvSpPr>
        <p:spPr>
          <a:xfrm>
            <a:off x="0" y="0"/>
            <a:ext cx="5463540" cy="6858000"/>
          </a:xfrm>
          <a:prstGeom prst="rect">
            <a:avLst/>
          </a:prstGeom>
          <a:solidFill>
            <a:srgbClr val="EFEFEF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Inter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C3839F3-3666-4DCB-91DB-814EE65BF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82" y="1975574"/>
            <a:ext cx="4242433" cy="2906852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6041322" y="530076"/>
            <a:ext cx="5121360" cy="2167397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B50C035F-FB0D-661E-E9DA-A9396157B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637FF409-B2DF-0988-3CDC-1D9D56F6B2D6}"/>
              </a:ext>
            </a:extLst>
          </p:cNvPr>
          <p:cNvSpPr/>
          <p:nvPr/>
        </p:nvSpPr>
        <p:spPr>
          <a:xfrm>
            <a:off x="0" y="0"/>
            <a:ext cx="5463540" cy="6858000"/>
          </a:xfrm>
          <a:prstGeom prst="rect">
            <a:avLst/>
          </a:prstGeom>
          <a:solidFill>
            <a:srgbClr val="EFEFEF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Inter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4AA1DEB-F5BA-B5E5-4EC8-EB7C5FC85C6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82" y="1975574"/>
            <a:ext cx="4242433" cy="2906852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4E019390-CF55-F1F0-2E77-08D559D471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14" name="Rektangel 13">
            <a:extLst>
              <a:ext uri="{FF2B5EF4-FFF2-40B4-BE49-F238E27FC236}">
                <a16:creationId xmlns:a16="http://schemas.microsoft.com/office/drawing/2014/main" id="{EA4F9AE3-0B19-0EDA-F424-15CCC2B9C99C}"/>
              </a:ext>
            </a:extLst>
          </p:cNvPr>
          <p:cNvSpPr/>
          <p:nvPr userDrawn="1"/>
        </p:nvSpPr>
        <p:spPr>
          <a:xfrm>
            <a:off x="0" y="0"/>
            <a:ext cx="5463540" cy="6858000"/>
          </a:xfrm>
          <a:prstGeom prst="rect">
            <a:avLst/>
          </a:prstGeom>
          <a:solidFill>
            <a:srgbClr val="EFEFEF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Inter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365FBF5-5004-12CB-718A-D5951B1A9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82" y="1975574"/>
            <a:ext cx="4242433" cy="290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0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tal/fak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7">
            <a:extLst>
              <a:ext uri="{FF2B5EF4-FFF2-40B4-BE49-F238E27FC236}">
                <a16:creationId xmlns:a16="http://schemas.microsoft.com/office/drawing/2014/main" id="{EE213B68-C58B-8F4C-82A2-9DFD24642E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598" y="2775954"/>
            <a:ext cx="3260431" cy="98391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6000" b="1" spc="-150">
                <a:solidFill>
                  <a:srgbClr val="BF1D30"/>
                </a:solidFill>
              </a:defRPr>
            </a:lvl1pPr>
            <a:lvl2pPr marL="317500" indent="0">
              <a:buNone/>
              <a:defRPr sz="2300" b="1"/>
            </a:lvl2pPr>
            <a:lvl3pPr marL="635000" indent="0">
              <a:buNone/>
              <a:defRPr sz="2300" b="1"/>
            </a:lvl3pPr>
            <a:lvl4pPr marL="952500" indent="0">
              <a:buNone/>
              <a:defRPr sz="2300" b="1"/>
            </a:lvl4pPr>
            <a:lvl5pPr marL="1270000" indent="0">
              <a:buNone/>
              <a:defRPr sz="2300" b="1"/>
            </a:lvl5pPr>
          </a:lstStyle>
          <a:p>
            <a:pPr lvl="0"/>
            <a:r>
              <a:rPr lang="da-DK" noProof="0" dirty="0"/>
              <a:t>Tal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741B2397-4A26-3B43-9940-FAB3D25C5D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4656" y="2804696"/>
            <a:ext cx="3260431" cy="95517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6000" b="1" spc="-150">
                <a:solidFill>
                  <a:srgbClr val="BF1D30"/>
                </a:solidFill>
              </a:defRPr>
            </a:lvl1pPr>
            <a:lvl2pPr marL="317500" indent="0">
              <a:buNone/>
              <a:defRPr sz="2300" b="1"/>
            </a:lvl2pPr>
            <a:lvl3pPr marL="635000" indent="0">
              <a:buNone/>
              <a:defRPr sz="2300" b="1"/>
            </a:lvl3pPr>
            <a:lvl4pPr marL="952500" indent="0">
              <a:buNone/>
              <a:defRPr sz="2300" b="1"/>
            </a:lvl4pPr>
            <a:lvl5pPr marL="1270000" indent="0">
              <a:buNone/>
              <a:defRPr sz="2300" b="1"/>
            </a:lvl5pPr>
          </a:lstStyle>
          <a:p>
            <a:pPr lvl="0"/>
            <a:r>
              <a:rPr lang="da-DK" noProof="0"/>
              <a:t>Tal</a:t>
            </a:r>
          </a:p>
        </p:txBody>
      </p:sp>
      <p:sp>
        <p:nvSpPr>
          <p:cNvPr id="9" name="Pladsholder til tekst 7">
            <a:extLst>
              <a:ext uri="{FF2B5EF4-FFF2-40B4-BE49-F238E27FC236}">
                <a16:creationId xmlns:a16="http://schemas.microsoft.com/office/drawing/2014/main" id="{90FA035B-1B1D-FE4C-983D-E17E5178C2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44839" y="2775953"/>
            <a:ext cx="3260431" cy="98391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6000" b="1" spc="-150">
                <a:solidFill>
                  <a:srgbClr val="BF1D30"/>
                </a:solidFill>
              </a:defRPr>
            </a:lvl1pPr>
            <a:lvl2pPr marL="317500" indent="0">
              <a:buNone/>
              <a:defRPr sz="2300" b="1"/>
            </a:lvl2pPr>
            <a:lvl3pPr marL="635000" indent="0">
              <a:buNone/>
              <a:defRPr sz="2300" b="1"/>
            </a:lvl3pPr>
            <a:lvl4pPr marL="952500" indent="0">
              <a:buNone/>
              <a:defRPr sz="2300" b="1"/>
            </a:lvl4pPr>
            <a:lvl5pPr marL="1270000" indent="0">
              <a:buNone/>
              <a:defRPr sz="2300" b="1"/>
            </a:lvl5pPr>
          </a:lstStyle>
          <a:p>
            <a:pPr lvl="0"/>
            <a:r>
              <a:rPr lang="da-DK" noProof="0"/>
              <a:t>Tal</a:t>
            </a:r>
          </a:p>
        </p:txBody>
      </p:sp>
      <p:sp>
        <p:nvSpPr>
          <p:cNvPr id="10" name="Pladsholder til tekst 2">
            <a:extLst>
              <a:ext uri="{FF2B5EF4-FFF2-40B4-BE49-F238E27FC236}">
                <a16:creationId xmlns:a16="http://schemas.microsoft.com/office/drawing/2014/main" id="{C5A31D1E-1397-A742-925B-9594E1168C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2598" y="3862136"/>
            <a:ext cx="2692655" cy="151731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buFontTx/>
              <a:buNone/>
              <a:defRPr sz="1000"/>
            </a:lvl3pPr>
            <a:lvl4pPr marL="952500" indent="0">
              <a:buFontTx/>
              <a:buNone/>
              <a:defRPr sz="1000"/>
            </a:lvl4pPr>
            <a:lvl5pPr marL="1270000" indent="0">
              <a:buFontTx/>
              <a:buNone/>
              <a:defRPr sz="10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39CF3494-CFDB-9A4C-AA65-419FFD8017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64656" y="3862136"/>
            <a:ext cx="2692655" cy="151731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buFontTx/>
              <a:buNone/>
              <a:defRPr sz="1000"/>
            </a:lvl3pPr>
            <a:lvl4pPr marL="952500" indent="0">
              <a:buFontTx/>
              <a:buNone/>
              <a:defRPr sz="1000"/>
            </a:lvl4pPr>
            <a:lvl5pPr marL="1270000" indent="0">
              <a:buFontTx/>
              <a:buNone/>
              <a:defRPr sz="10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sp>
        <p:nvSpPr>
          <p:cNvPr id="12" name="Pladsholder til tekst 2">
            <a:extLst>
              <a:ext uri="{FF2B5EF4-FFF2-40B4-BE49-F238E27FC236}">
                <a16:creationId xmlns:a16="http://schemas.microsoft.com/office/drawing/2014/main" id="{00DE92BF-5DE6-9A42-B001-5C17881AD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44840" y="3862136"/>
            <a:ext cx="2692655" cy="151731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buFontTx/>
              <a:buNone/>
              <a:defRPr sz="1000"/>
            </a:lvl3pPr>
            <a:lvl4pPr marL="952500" indent="0">
              <a:buFontTx/>
              <a:buNone/>
              <a:defRPr sz="1000"/>
            </a:lvl4pPr>
            <a:lvl5pPr marL="1270000" indent="0">
              <a:buFontTx/>
              <a:buNone/>
              <a:defRPr sz="10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5ED8AFA-07B8-8249-AEB5-07DDF2E0DDF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2598" y="746592"/>
            <a:ext cx="10404897" cy="1507030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1379D6E-AE22-6724-9522-8897403676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61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og tekst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8B12C65F-DFF7-A34C-A544-6951E74C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320" y="1018083"/>
            <a:ext cx="773696" cy="590608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2A4820CB-DDF5-0A4F-A393-ACAFC311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98" y="1561008"/>
            <a:ext cx="831850" cy="635000"/>
          </a:xfrm>
          <a:prstGeom prst="rect">
            <a:avLst/>
          </a:prstGeom>
        </p:spPr>
      </p:pic>
      <p:sp>
        <p:nvSpPr>
          <p:cNvPr id="14" name="Pladsholder til tekst 9">
            <a:extLst>
              <a:ext uri="{FF2B5EF4-FFF2-40B4-BE49-F238E27FC236}">
                <a16:creationId xmlns:a16="http://schemas.microsoft.com/office/drawing/2014/main" id="{1955B6B8-6351-CA4D-99A6-041DE82D86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4671" y="2007443"/>
            <a:ext cx="4096544" cy="3037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i="1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6" name="Pladsholder til tekst 9">
            <a:extLst>
              <a:ext uri="{FF2B5EF4-FFF2-40B4-BE49-F238E27FC236}">
                <a16:creationId xmlns:a16="http://schemas.microsoft.com/office/drawing/2014/main" id="{E62AFFDE-48D9-2A4D-B496-F373C1FEE0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717" y="5045124"/>
            <a:ext cx="3274498" cy="694511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0" spc="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77B2E16E-59F3-5048-9CC5-40F4F2A301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6299" y="2997868"/>
            <a:ext cx="5121359" cy="316163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645C317-1370-E445-AFAA-9E7F198801F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A601C22B-39EF-443A-A28D-19593B16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320" y="1018083"/>
            <a:ext cx="773696" cy="59060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6299" y="680293"/>
            <a:ext cx="5121359" cy="2185604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3208EA9F-8823-486E-5881-D9942222E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320" y="1018083"/>
            <a:ext cx="773696" cy="5906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FE1D801-626F-CAE9-AEAF-F0C58D1C1E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A6EED5D5-937D-BD6F-54FF-21EAA356F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67320" y="1018083"/>
            <a:ext cx="773696" cy="59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og tekst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F033FFDA-F6A6-7C51-949F-75B8E6F2A01C}"/>
              </a:ext>
            </a:extLst>
          </p:cNvPr>
          <p:cNvSpPr/>
          <p:nvPr/>
        </p:nvSpPr>
        <p:spPr>
          <a:xfrm>
            <a:off x="0" y="0"/>
            <a:ext cx="6172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A4820CB-DDF5-0A4F-A393-ACAFC311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959028"/>
            <a:ext cx="831850" cy="635000"/>
          </a:xfrm>
          <a:prstGeom prst="rect">
            <a:avLst/>
          </a:prstGeom>
        </p:spPr>
      </p:pic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EAE0C3AE-9D98-754E-953D-3A08E6C35D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8538" y="2002815"/>
            <a:ext cx="4096544" cy="3037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15" name="Pladsholder til tekst 9">
            <a:extLst>
              <a:ext uri="{FF2B5EF4-FFF2-40B4-BE49-F238E27FC236}">
                <a16:creationId xmlns:a16="http://schemas.microsoft.com/office/drawing/2014/main" id="{E1C44A7D-D1D7-3346-A219-2FD991B9BD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0346" y="5040497"/>
            <a:ext cx="3274498" cy="694511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0" spc="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809C92F7-76CE-0B4D-A7E8-FF7F7D4023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5814" y="2931574"/>
            <a:ext cx="4806256" cy="300446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5827F75-33EF-B449-A845-9F6B0DBAC8C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EC4756BF-C93F-41F4-B97F-8F984FEB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959028"/>
            <a:ext cx="831850" cy="635000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6665813" y="507990"/>
            <a:ext cx="4806256" cy="2172077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C5B82105-EBFD-7D8D-EAE3-BCE8BE8E4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98" y="959028"/>
            <a:ext cx="831850" cy="635000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FDD18D72-C323-DAE9-0E24-20A584028878}"/>
              </a:ext>
            </a:extLst>
          </p:cNvPr>
          <p:cNvSpPr/>
          <p:nvPr userDrawn="1"/>
        </p:nvSpPr>
        <p:spPr>
          <a:xfrm>
            <a:off x="0" y="0"/>
            <a:ext cx="61722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D93BE0E-532C-D1B8-EFF7-4EBFF4EE8F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7C835D2C-11E7-652C-0D13-1AA849EC8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6298" y="959028"/>
            <a:ext cx="83185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32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fuld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8B12C65F-DFF7-A34C-A544-6951E74CE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02" y="1028457"/>
            <a:ext cx="948581" cy="724108"/>
          </a:xfrm>
          <a:prstGeom prst="rect">
            <a:avLst/>
          </a:prstGeom>
        </p:spPr>
      </p:pic>
      <p:sp>
        <p:nvSpPr>
          <p:cNvPr id="14" name="Pladsholder til tekst 9">
            <a:extLst>
              <a:ext uri="{FF2B5EF4-FFF2-40B4-BE49-F238E27FC236}">
                <a16:creationId xmlns:a16="http://schemas.microsoft.com/office/drawing/2014/main" id="{1955B6B8-6351-CA4D-99A6-041DE82D86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29383" y="1978205"/>
            <a:ext cx="7533234" cy="3037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i="1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6" name="Pladsholder til tekst 9">
            <a:extLst>
              <a:ext uri="{FF2B5EF4-FFF2-40B4-BE49-F238E27FC236}">
                <a16:creationId xmlns:a16="http://schemas.microsoft.com/office/drawing/2014/main" id="{E62AFFDE-48D9-2A4D-B496-F373C1FEE0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1063" y="5241526"/>
            <a:ext cx="6021554" cy="694511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0" spc="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645C317-1370-E445-AFAA-9E7F198801F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2" name="Billede 1">
            <a:extLst>
              <a:ext uri="{FF2B5EF4-FFF2-40B4-BE49-F238E27FC236}">
                <a16:creationId xmlns:a16="http://schemas.microsoft.com/office/drawing/2014/main" id="{E80A1051-0452-6C87-B895-8C12A6C9E3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80802" y="1028457"/>
            <a:ext cx="948581" cy="72410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350DF2C-9FA8-1098-48BB-BE261CB7A4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4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, billede og tekst, rø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06F0E7F6-220B-E089-131C-9F925DAA7E71}"/>
              </a:ext>
            </a:extLst>
          </p:cNvPr>
          <p:cNvSpPr/>
          <p:nvPr/>
        </p:nvSpPr>
        <p:spPr>
          <a:xfrm>
            <a:off x="0" y="0"/>
            <a:ext cx="5979319" cy="3619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A4820CB-DDF5-0A4F-A393-ACAFC311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1" y="462337"/>
            <a:ext cx="557164" cy="425316"/>
          </a:xfrm>
          <a:prstGeom prst="rect">
            <a:avLst/>
          </a:prstGeom>
        </p:spPr>
      </p:pic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EAE0C3AE-9D98-754E-953D-3A08E6C35D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8343" y="887652"/>
            <a:ext cx="4096544" cy="182242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800" i="1">
                <a:solidFill>
                  <a:schemeClr val="bg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800" i="1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8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5" name="Pladsholder til tekst 9">
            <a:extLst>
              <a:ext uri="{FF2B5EF4-FFF2-40B4-BE49-F238E27FC236}">
                <a16:creationId xmlns:a16="http://schemas.microsoft.com/office/drawing/2014/main" id="{E1C44A7D-D1D7-3346-A219-2FD991B9BD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20389" y="2710078"/>
            <a:ext cx="3274498" cy="694511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0" spc="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2pPr>
            <a:lvl3pPr marL="635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3pPr>
            <a:lvl4pPr marL="9525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4pPr>
            <a:lvl5pPr marL="1270000" indent="0">
              <a:lnSpc>
                <a:spcPct val="100000"/>
              </a:lnSpc>
              <a:buNone/>
              <a:defRPr sz="1200" i="1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11" name="Pladsholder til tekst 2">
            <a:extLst>
              <a:ext uri="{FF2B5EF4-FFF2-40B4-BE49-F238E27FC236}">
                <a16:creationId xmlns:a16="http://schemas.microsoft.com/office/drawing/2014/main" id="{809C92F7-76CE-0B4D-A7E8-FF7F7D4023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344" y="4010930"/>
            <a:ext cx="9934440" cy="1959418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800"/>
            </a:lvl1pPr>
            <a:lvl2pPr marL="317500" indent="0">
              <a:buFontTx/>
              <a:buNone/>
              <a:defRPr sz="1800"/>
            </a:lvl2pPr>
            <a:lvl3pPr marL="635000" indent="0">
              <a:buFontTx/>
              <a:buNone/>
              <a:defRPr sz="1800"/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29C249C9-13A6-A94B-B473-79E3DE353A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79319" y="0"/>
            <a:ext cx="6212681" cy="3619500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FontTx/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42F4060F-C113-F044-B8B0-C000857401B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45601FB5-978F-4227-B300-0F204951B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1" y="462337"/>
            <a:ext cx="557164" cy="425316"/>
          </a:xfrm>
          <a:prstGeom prst="rect">
            <a:avLst/>
          </a:prstGeom>
        </p:spPr>
      </p:pic>
      <p:sp>
        <p:nvSpPr>
          <p:cNvPr id="21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22" name="Billed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23" name="Billed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4" name="Billed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F06F0022-1FDF-E586-4B14-7DD381C07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1" y="462337"/>
            <a:ext cx="557164" cy="425316"/>
          </a:xfrm>
          <a:prstGeom prst="rect">
            <a:avLst/>
          </a:prstGeom>
        </p:spPr>
      </p:pic>
      <p:sp>
        <p:nvSpPr>
          <p:cNvPr id="8" name="Text Box 48">
            <a:extLst>
              <a:ext uri="{FF2B5EF4-FFF2-40B4-BE49-F238E27FC236}">
                <a16:creationId xmlns:a16="http://schemas.microsoft.com/office/drawing/2014/main" id="{330A4506-CEB1-218D-0877-D8A2F67C8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4" name="Billede 25">
            <a:extLst>
              <a:ext uri="{FF2B5EF4-FFF2-40B4-BE49-F238E27FC236}">
                <a16:creationId xmlns:a16="http://schemas.microsoft.com/office/drawing/2014/main" id="{612FCF80-D439-1AAB-5FB0-6D7D14D256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7" name="Billede 36">
            <a:extLst>
              <a:ext uri="{FF2B5EF4-FFF2-40B4-BE49-F238E27FC236}">
                <a16:creationId xmlns:a16="http://schemas.microsoft.com/office/drawing/2014/main" id="{6039FF22-BBD8-62FA-2B67-38FF8D6844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>
            <a:extLst>
              <a:ext uri="{FF2B5EF4-FFF2-40B4-BE49-F238E27FC236}">
                <a16:creationId xmlns:a16="http://schemas.microsoft.com/office/drawing/2014/main" id="{58F954F0-894B-2B96-243D-A019D29764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830C3096-9296-53C5-BED5-DF0E628A8910}"/>
              </a:ext>
            </a:extLst>
          </p:cNvPr>
          <p:cNvSpPr/>
          <p:nvPr userDrawn="1"/>
        </p:nvSpPr>
        <p:spPr>
          <a:xfrm>
            <a:off x="0" y="0"/>
            <a:ext cx="5979319" cy="3619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3A52F76-74C5-CCC1-E376-21169EC8CA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B2D375D2-00ED-9E63-51C3-B897965DEE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9431" y="462337"/>
            <a:ext cx="557164" cy="425316"/>
          </a:xfrm>
          <a:prstGeom prst="rect">
            <a:avLst/>
          </a:prstGeom>
        </p:spPr>
      </p:pic>
      <p:sp>
        <p:nvSpPr>
          <p:cNvPr id="13" name="Text Box 48">
            <a:extLst>
              <a:ext uri="{FF2B5EF4-FFF2-40B4-BE49-F238E27FC236}">
                <a16:creationId xmlns:a16="http://schemas.microsoft.com/office/drawing/2014/main" id="{4FAF335B-B07B-087B-6ABF-B14F6D3753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9" name="Billede 25">
            <a:extLst>
              <a:ext uri="{FF2B5EF4-FFF2-40B4-BE49-F238E27FC236}">
                <a16:creationId xmlns:a16="http://schemas.microsoft.com/office/drawing/2014/main" id="{99D2739F-078A-99DD-B5A9-41A836324A1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20" name="Billede 36">
            <a:extLst>
              <a:ext uri="{FF2B5EF4-FFF2-40B4-BE49-F238E27FC236}">
                <a16:creationId xmlns:a16="http://schemas.microsoft.com/office/drawing/2014/main" id="{ACD4234F-C3A9-DB13-488B-A44C1906BFB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5" name="Billede 37">
            <a:extLst>
              <a:ext uri="{FF2B5EF4-FFF2-40B4-BE49-F238E27FC236}">
                <a16:creationId xmlns:a16="http://schemas.microsoft.com/office/drawing/2014/main" id="{9CB520AD-4D6C-ED60-75C8-63B9D02D9C0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0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bund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/>
          </p:cNvSpPr>
          <p:nvPr>
            <p:ph type="pic" sz="half" idx="13" hasCustomPrompt="1"/>
          </p:nvPr>
        </p:nvSpPr>
        <p:spPr>
          <a:xfrm>
            <a:off x="-1" y="4574192"/>
            <a:ext cx="12192100" cy="22838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F7E11F-8BBD-8B41-8B62-7874A92A0F7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3488" y="3685771"/>
            <a:ext cx="1078582" cy="739028"/>
          </a:xfrm>
          <a:prstGeom prst="rect">
            <a:avLst/>
          </a:prstGeom>
        </p:spPr>
      </p:pic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1911D3D-DDBD-C94F-9AA3-4432C9E16F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0"/>
            <a:ext cx="5376069" cy="380799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72740" y="-1"/>
            <a:ext cx="4189117" cy="3807995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7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8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9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0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7" name="Text Box 48">
            <a:extLst>
              <a:ext uri="{FF2B5EF4-FFF2-40B4-BE49-F238E27FC236}">
                <a16:creationId xmlns:a16="http://schemas.microsoft.com/office/drawing/2014/main" id="{8E308422-8AB0-1F40-C155-01352677E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8" name="Billede 25">
            <a:extLst>
              <a:ext uri="{FF2B5EF4-FFF2-40B4-BE49-F238E27FC236}">
                <a16:creationId xmlns:a16="http://schemas.microsoft.com/office/drawing/2014/main" id="{7ABA1ABF-E240-E767-B848-C33FA1C85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9" name="Billede 36">
            <a:extLst>
              <a:ext uri="{FF2B5EF4-FFF2-40B4-BE49-F238E27FC236}">
                <a16:creationId xmlns:a16="http://schemas.microsoft.com/office/drawing/2014/main" id="{7259167A-50C9-A274-2BA7-FE7946D42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>
            <a:extLst>
              <a:ext uri="{FF2B5EF4-FFF2-40B4-BE49-F238E27FC236}">
                <a16:creationId xmlns:a16="http://schemas.microsoft.com/office/drawing/2014/main" id="{691EC1C8-AAED-0836-4682-09176BDE0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1366CCC-2F09-C06C-76CF-3254D4CCF4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3488" y="3685771"/>
            <a:ext cx="1078582" cy="739028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0D6BDEEF-2C68-D558-94BA-D8E8907941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C3072E6A-AFC5-A3B1-7B09-815F6FA364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A3BB26B1-8654-F8AB-64A6-C092BA7DF81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E519351E-5C94-02F5-E7EE-11390FF1C22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96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topbillede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/>
          </p:cNvSpPr>
          <p:nvPr>
            <p:ph type="pic" sz="half" idx="13" hasCustomPrompt="1"/>
          </p:nvPr>
        </p:nvSpPr>
        <p:spPr>
          <a:xfrm>
            <a:off x="-1" y="-17631"/>
            <a:ext cx="12192100" cy="22838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1911D3D-DDBD-C94F-9AA3-4432C9E16F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7232" y="2881344"/>
            <a:ext cx="5597049" cy="304399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2892C5F-5B50-744E-BFEF-CEEF34C5AAC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90588" y="2888800"/>
            <a:ext cx="4162425" cy="3051478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F20EDC56-B801-400C-0F72-44BECBD5A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>
            <a:extLst>
              <a:ext uri="{FF2B5EF4-FFF2-40B4-BE49-F238E27FC236}">
                <a16:creationId xmlns:a16="http://schemas.microsoft.com/office/drawing/2014/main" id="{DBBE9008-86E8-76BB-9255-C4D6037C3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A6E0B144-F10F-6EF9-5530-7D0436C33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9" name="Billede 37">
            <a:extLst>
              <a:ext uri="{FF2B5EF4-FFF2-40B4-BE49-F238E27FC236}">
                <a16:creationId xmlns:a16="http://schemas.microsoft.com/office/drawing/2014/main" id="{F8FC8D88-5175-9293-FCCE-AAF803DB6C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123887C-D7A6-011B-4D31-391FC8A2E0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801FC4AA-910D-FF68-8ADF-08562076D9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6A6985AC-3C8A-6FEC-CAB1-4354F7E028A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F93D8E86-0991-80E1-BA5A-FA2A88E2A07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A75C7A7A-5B88-BBE8-A27F-3BF9A226855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09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topbillede, blå">
    <p:bg>
      <p:bgPr>
        <a:solidFill>
          <a:srgbClr val="004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/>
          </p:cNvSpPr>
          <p:nvPr>
            <p:ph type="pic" sz="half" idx="13" hasCustomPrompt="1"/>
          </p:nvPr>
        </p:nvSpPr>
        <p:spPr>
          <a:xfrm>
            <a:off x="-1" y="-17631"/>
            <a:ext cx="12192100" cy="17321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1911D3D-DDBD-C94F-9AA3-4432C9E16F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7232" y="2599404"/>
            <a:ext cx="5597049" cy="304399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27B2473-E55F-CB4B-A6AE-F9C25D36075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90588" y="2599404"/>
            <a:ext cx="4162425" cy="304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F782C1CE-CB1B-48B0-00A6-C8608D9A8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>
            <a:extLst>
              <a:ext uri="{FF2B5EF4-FFF2-40B4-BE49-F238E27FC236}">
                <a16:creationId xmlns:a16="http://schemas.microsoft.com/office/drawing/2014/main" id="{56B2AF92-9B3E-550D-AA83-D4C00D272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17736045-9377-C81A-B2AE-E8AF6820D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9" name="Billede 37">
            <a:extLst>
              <a:ext uri="{FF2B5EF4-FFF2-40B4-BE49-F238E27FC236}">
                <a16:creationId xmlns:a16="http://schemas.microsoft.com/office/drawing/2014/main" id="{6EE19EB7-697B-A8E2-4C57-0AFAE3D13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2B90DA3-5298-E1BF-64ED-FD353EB63D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95ACD03F-9E61-22C9-CFD5-22122326E8F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C764B3E4-A514-5E23-C0DE-5FA457C10A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BED7756A-C060-A3F5-CE2D-84B535B7A3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AD7F4695-0E77-9817-666F-D3EA68E7A1E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4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venstrebillede, h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Shape 942"/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6093173" cy="68579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9BC49947-8D74-B04A-9F34-8E6DFC0D7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49273" y="2731168"/>
            <a:ext cx="5121359" cy="320486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lnSpc>
                <a:spcPct val="100000"/>
              </a:lnSpc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A5D01EC-A99D-2F44-BDD1-C9695502011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49273" y="431800"/>
            <a:ext cx="5121359" cy="2123742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114C3440-997B-F5E7-AEAA-A6A776FF0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90891BE8-A10E-F9BE-1C07-9F68943D6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D316B3F8-9B12-C59B-628F-31B67A4D8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>
            <a:extLst>
              <a:ext uri="{FF2B5EF4-FFF2-40B4-BE49-F238E27FC236}">
                <a16:creationId xmlns:a16="http://schemas.microsoft.com/office/drawing/2014/main" id="{E97E0058-697A-6C2B-0DC0-4FC795D767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3054289-ADC0-75B3-F73D-BACC81CF33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7" name="Text Box 48">
            <a:extLst>
              <a:ext uri="{FF2B5EF4-FFF2-40B4-BE49-F238E27FC236}">
                <a16:creationId xmlns:a16="http://schemas.microsoft.com/office/drawing/2014/main" id="{F682939D-60FF-09B5-85D2-83886099DC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404CD91C-FDE1-18A5-B701-C54B720850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D3470CD6-C985-D981-D2C1-3838A8CD894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8B1C8C77-596F-2D4A-C7C0-260412ABC73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33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 rød">
    <p:bg>
      <p:bgPr>
        <a:solidFill>
          <a:srgbClr val="BF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829F0774-8D55-EC4E-A487-FF50EA77390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30FE3656-0BE5-F546-BFC1-A5E7AE968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587" y="3822141"/>
            <a:ext cx="8014874" cy="157004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90587" y="1558131"/>
            <a:ext cx="9353551" cy="2264010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25D4A33-38C1-80CF-7F25-0EA0F69763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04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er blå">
    <p:bg>
      <p:bgPr>
        <a:solidFill>
          <a:srgbClr val="004F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D15BEFF0-F101-3D46-803B-8651BC08B7D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7" name="Pladsholder til tekst 2">
            <a:extLst>
              <a:ext uri="{FF2B5EF4-FFF2-40B4-BE49-F238E27FC236}">
                <a16:creationId xmlns:a16="http://schemas.microsoft.com/office/drawing/2014/main" id="{5ED7F8F1-02B6-3546-A24A-CC85B48209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0587" y="3822141"/>
            <a:ext cx="8014874" cy="157004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3pPr>
            <a:lvl4pPr marL="9525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4pPr>
            <a:lvl5pPr marL="1270000" indent="0">
              <a:lnSpc>
                <a:spcPct val="100000"/>
              </a:lnSpc>
              <a:buFontTx/>
              <a:buNone/>
              <a:defRPr sz="1800">
                <a:solidFill>
                  <a:srgbClr val="EFEFEF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90587" y="1547846"/>
            <a:ext cx="9353551" cy="2274295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563341B-0BCE-5C0B-5B56-5A5351D0C8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49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Breaker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>
            <a:spLocks noGrp="1"/>
          </p:cNvSpPr>
          <p:nvPr>
            <p:ph type="pic" idx="13" hasCustomPrompt="1"/>
          </p:nvPr>
        </p:nvSpPr>
        <p:spPr>
          <a:xfrm>
            <a:off x="2382" y="0"/>
            <a:ext cx="12187188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1299D5D-A6BC-C94C-B887-74AFD825D9C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2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3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4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3" name="Text Box 48">
            <a:extLst>
              <a:ext uri="{FF2B5EF4-FFF2-40B4-BE49-F238E27FC236}">
                <a16:creationId xmlns:a16="http://schemas.microsoft.com/office/drawing/2014/main" id="{0AC75320-6FB1-FD95-0CDD-1F17402B1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Billede 25">
            <a:extLst>
              <a:ext uri="{FF2B5EF4-FFF2-40B4-BE49-F238E27FC236}">
                <a16:creationId xmlns:a16="http://schemas.microsoft.com/office/drawing/2014/main" id="{95D0EFDE-4FD3-8A31-82E1-C099F2F82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7" name="Billede 36">
            <a:extLst>
              <a:ext uri="{FF2B5EF4-FFF2-40B4-BE49-F238E27FC236}">
                <a16:creationId xmlns:a16="http://schemas.microsoft.com/office/drawing/2014/main" id="{70654630-9242-C320-5094-4091B42AE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8" name="Billede 37">
            <a:extLst>
              <a:ext uri="{FF2B5EF4-FFF2-40B4-BE49-F238E27FC236}">
                <a16:creationId xmlns:a16="http://schemas.microsoft.com/office/drawing/2014/main" id="{0EAAC906-4BB0-960A-69D4-143CFAAB86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B1ADBDC-078C-EB0A-F898-A04F45AC92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FC46A929-5C09-8AC3-F03B-BC5907021C6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9" name="Billede 25">
            <a:extLst>
              <a:ext uri="{FF2B5EF4-FFF2-40B4-BE49-F238E27FC236}">
                <a16:creationId xmlns:a16="http://schemas.microsoft.com/office/drawing/2014/main" id="{973C69EF-3B17-4A1B-4034-A4972FD4DE9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0" name="Billede 36">
            <a:extLst>
              <a:ext uri="{FF2B5EF4-FFF2-40B4-BE49-F238E27FC236}">
                <a16:creationId xmlns:a16="http://schemas.microsoft.com/office/drawing/2014/main" id="{CC83715B-84E7-2852-87EB-8A699584A3F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5" name="Billede 37">
            <a:extLst>
              <a:ext uri="{FF2B5EF4-FFF2-40B4-BE49-F238E27FC236}">
                <a16:creationId xmlns:a16="http://schemas.microsoft.com/office/drawing/2014/main" id="{662251C7-C1A2-5773-1CF4-03BFC0772C1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12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billedmosaik">
    <p:bg>
      <p:bgPr>
        <a:solidFill>
          <a:srgbClr val="F5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9BC49947-8D74-B04A-9F34-8E6DFC0D7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8157" y="2731168"/>
            <a:ext cx="5121359" cy="307030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1E3D2B1-5AF9-FA40-9767-287429373AA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7094062" y="0"/>
            <a:ext cx="2491899" cy="3909219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sp>
        <p:nvSpPr>
          <p:cNvPr id="9" name="Pladsholder til billede 2">
            <a:extLst>
              <a:ext uri="{FF2B5EF4-FFF2-40B4-BE49-F238E27FC236}">
                <a16:creationId xmlns:a16="http://schemas.microsoft.com/office/drawing/2014/main" id="{76203527-8C98-204F-9EBE-78E0B289615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071202" y="4041474"/>
            <a:ext cx="2514759" cy="2827020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sp>
        <p:nvSpPr>
          <p:cNvPr id="10" name="Pladsholder til billede 2">
            <a:extLst>
              <a:ext uri="{FF2B5EF4-FFF2-40B4-BE49-F238E27FC236}">
                <a16:creationId xmlns:a16="http://schemas.microsoft.com/office/drawing/2014/main" id="{AD8F4916-9B79-B640-BAF6-80655DE288D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700102" y="0"/>
            <a:ext cx="2491899" cy="2712720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sp>
        <p:nvSpPr>
          <p:cNvPr id="11" name="Pladsholder til billede 2">
            <a:extLst>
              <a:ext uri="{FF2B5EF4-FFF2-40B4-BE49-F238E27FC236}">
                <a16:creationId xmlns:a16="http://schemas.microsoft.com/office/drawing/2014/main" id="{31E2A49D-4A48-B247-99AF-0D133485ACB7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700102" y="2827020"/>
            <a:ext cx="2491899" cy="4041474"/>
          </a:xfrm>
          <a:solidFill>
            <a:schemeClr val="bg1">
              <a:lumMod val="95000"/>
            </a:schemeClr>
          </a:solidFill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da-DK" dirty="0"/>
              <a:t>Billede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4E26655-E869-0744-A212-AB1C6A55787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98" y="5801472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42207" y="431800"/>
            <a:ext cx="5137309" cy="2123742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9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20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1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6" name="Text Box 48">
            <a:extLst>
              <a:ext uri="{FF2B5EF4-FFF2-40B4-BE49-F238E27FC236}">
                <a16:creationId xmlns:a16="http://schemas.microsoft.com/office/drawing/2014/main" id="{B9176D99-F929-F5B1-67FD-996AABFD2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>
            <a:extLst>
              <a:ext uri="{FF2B5EF4-FFF2-40B4-BE49-F238E27FC236}">
                <a16:creationId xmlns:a16="http://schemas.microsoft.com/office/drawing/2014/main" id="{EFBBFC56-08D8-5BFA-E54A-25FE661C1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2A118EAE-210D-7E6E-516A-B047341AA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5" name="Billede 37">
            <a:extLst>
              <a:ext uri="{FF2B5EF4-FFF2-40B4-BE49-F238E27FC236}">
                <a16:creationId xmlns:a16="http://schemas.microsoft.com/office/drawing/2014/main" id="{6075216F-A319-AB24-CBD7-1922E8C16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4ACAA22-E361-D5F9-E753-EE80FC216B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98" y="5801472"/>
            <a:ext cx="1078582" cy="739028"/>
          </a:xfrm>
          <a:prstGeom prst="rect">
            <a:avLst/>
          </a:prstGeom>
        </p:spPr>
      </p:pic>
      <p:sp>
        <p:nvSpPr>
          <p:cNvPr id="12" name="Text Box 48">
            <a:extLst>
              <a:ext uri="{FF2B5EF4-FFF2-40B4-BE49-F238E27FC236}">
                <a16:creationId xmlns:a16="http://schemas.microsoft.com/office/drawing/2014/main" id="{50AFA9ED-1955-0105-D956-E34897D22C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Billede 25">
            <a:extLst>
              <a:ext uri="{FF2B5EF4-FFF2-40B4-BE49-F238E27FC236}">
                <a16:creationId xmlns:a16="http://schemas.microsoft.com/office/drawing/2014/main" id="{FDE43458-039A-2C65-F601-D696F4158DF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7" name="Billede 36">
            <a:extLst>
              <a:ext uri="{FF2B5EF4-FFF2-40B4-BE49-F238E27FC236}">
                <a16:creationId xmlns:a16="http://schemas.microsoft.com/office/drawing/2014/main" id="{2C25B6D1-34A9-D4C7-5DB8-771573581D1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8" name="Billede 37">
            <a:extLst>
              <a:ext uri="{FF2B5EF4-FFF2-40B4-BE49-F238E27FC236}">
                <a16:creationId xmlns:a16="http://schemas.microsoft.com/office/drawing/2014/main" id="{BE0C9F43-6099-BEA8-99A2-7AF08E76017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07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gram og venstre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Shape 942"/>
          <p:cNvSpPr>
            <a:spLocks noGrp="1"/>
          </p:cNvSpPr>
          <p:nvPr>
            <p:ph type="pic" idx="13" hasCustomPrompt="1"/>
          </p:nvPr>
        </p:nvSpPr>
        <p:spPr>
          <a:xfrm>
            <a:off x="1" y="0"/>
            <a:ext cx="5203658" cy="68579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3" name="Pladsholder til diagram 2">
            <a:extLst>
              <a:ext uri="{FF2B5EF4-FFF2-40B4-BE49-F238E27FC236}">
                <a16:creationId xmlns:a16="http://schemas.microsoft.com/office/drawing/2014/main" id="{623B87F2-CF2D-4440-80E0-47E2F956761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636419" y="2911475"/>
            <a:ext cx="6136481" cy="3024561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a-DK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34D207C-BA12-A14D-A7E1-FC0EC86693B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646904" y="431800"/>
            <a:ext cx="6089901" cy="2262415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4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6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7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5" name="Text Box 48">
            <a:extLst>
              <a:ext uri="{FF2B5EF4-FFF2-40B4-BE49-F238E27FC236}">
                <a16:creationId xmlns:a16="http://schemas.microsoft.com/office/drawing/2014/main" id="{5D3A92DE-2982-B33F-BE8F-D14DC960B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13CA1A37-19FB-AEFE-EB1C-885959535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>
            <a:extLst>
              <a:ext uri="{FF2B5EF4-FFF2-40B4-BE49-F238E27FC236}">
                <a16:creationId xmlns:a16="http://schemas.microsoft.com/office/drawing/2014/main" id="{467B7DFD-B015-49B8-4CC5-E15CBDD4D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9" name="Billede 37">
            <a:extLst>
              <a:ext uri="{FF2B5EF4-FFF2-40B4-BE49-F238E27FC236}">
                <a16:creationId xmlns:a16="http://schemas.microsoft.com/office/drawing/2014/main" id="{2D6D63DE-5BE6-6DFD-D4F7-D9AF0507E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711A359-9F9E-71FD-4479-5DE962DD8D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7" name="Text Box 48">
            <a:extLst>
              <a:ext uri="{FF2B5EF4-FFF2-40B4-BE49-F238E27FC236}">
                <a16:creationId xmlns:a16="http://schemas.microsoft.com/office/drawing/2014/main" id="{8E868FD7-65E3-6E2D-3541-9995E4F3EE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2C14F068-D8E2-D220-A188-85F6AD646C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462A2009-8E89-5921-4340-5860DB093F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4FA556B2-8EF1-AD53-F293-36C17654462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858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2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>
            <a:spLocks noGrp="1"/>
          </p:cNvSpPr>
          <p:nvPr>
            <p:ph type="pic" sz="half" idx="13" hasCustomPrompt="1"/>
          </p:nvPr>
        </p:nvSpPr>
        <p:spPr>
          <a:xfrm>
            <a:off x="6096000" y="0"/>
            <a:ext cx="6096050" cy="3428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582" name="Shape 582"/>
          <p:cNvSpPr>
            <a:spLocks noGrp="1"/>
          </p:cNvSpPr>
          <p:nvPr>
            <p:ph type="pic" sz="half" idx="14" hasCustomPrompt="1"/>
          </p:nvPr>
        </p:nvSpPr>
        <p:spPr>
          <a:xfrm>
            <a:off x="0" y="3429000"/>
            <a:ext cx="6096001" cy="34289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8" name="Pladsholder til tekst 2">
            <a:extLst>
              <a:ext uri="{FF2B5EF4-FFF2-40B4-BE49-F238E27FC236}">
                <a16:creationId xmlns:a16="http://schemas.microsoft.com/office/drawing/2014/main" id="{D6EFF149-9F79-024A-9BC0-7341DE9991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9273" y="3765884"/>
            <a:ext cx="5033127" cy="217015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ED0C304-EBAC-8944-8871-BEA59B556FD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7321" y="659207"/>
            <a:ext cx="5121359" cy="2167397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7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8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9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324EDB75-4195-F975-F7AC-17231732E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Billede 25">
            <a:extLst>
              <a:ext uri="{FF2B5EF4-FFF2-40B4-BE49-F238E27FC236}">
                <a16:creationId xmlns:a16="http://schemas.microsoft.com/office/drawing/2014/main" id="{7C5C1F3C-7D97-D3E6-74B5-33DCB62A4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6" name="Billede 36">
            <a:extLst>
              <a:ext uri="{FF2B5EF4-FFF2-40B4-BE49-F238E27FC236}">
                <a16:creationId xmlns:a16="http://schemas.microsoft.com/office/drawing/2014/main" id="{2588E294-68A4-2350-C699-4CBF58A8E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7" name="Billede 37">
            <a:extLst>
              <a:ext uri="{FF2B5EF4-FFF2-40B4-BE49-F238E27FC236}">
                <a16:creationId xmlns:a16="http://schemas.microsoft.com/office/drawing/2014/main" id="{785EF0F4-EBEF-8191-B485-C1D00AC33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69A90BA-258B-6BA8-F273-2AD827519D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9" name="Text Box 48">
            <a:extLst>
              <a:ext uri="{FF2B5EF4-FFF2-40B4-BE49-F238E27FC236}">
                <a16:creationId xmlns:a16="http://schemas.microsoft.com/office/drawing/2014/main" id="{9ED3F9CB-9DD6-DD96-E1CE-F6313A8596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959A801A-81F2-579A-F0D4-543EB09D3DA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2F236917-734E-16DB-CDCD-0920A9C8A77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F4E075C5-6AC1-6B1E-6F3D-AD6B24A3B1B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109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4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Shape 920"/>
          <p:cNvSpPr>
            <a:spLocks noGrp="1"/>
          </p:cNvSpPr>
          <p:nvPr>
            <p:ph type="pic" sz="quarter" idx="13" hasCustomPrompt="1"/>
          </p:nvPr>
        </p:nvSpPr>
        <p:spPr>
          <a:xfrm>
            <a:off x="6094710" y="1012924"/>
            <a:ext cx="2518520" cy="238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921" name="Shape 921"/>
          <p:cNvSpPr>
            <a:spLocks noGrp="1"/>
          </p:cNvSpPr>
          <p:nvPr>
            <p:ph type="pic" sz="quarter" idx="14" hasCustomPrompt="1"/>
          </p:nvPr>
        </p:nvSpPr>
        <p:spPr>
          <a:xfrm>
            <a:off x="8666262" y="1012924"/>
            <a:ext cx="2518520" cy="238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922" name="Shape 922"/>
          <p:cNvSpPr>
            <a:spLocks noGrp="1"/>
          </p:cNvSpPr>
          <p:nvPr>
            <p:ph type="pic" sz="quarter" idx="15" hasCustomPrompt="1"/>
          </p:nvPr>
        </p:nvSpPr>
        <p:spPr>
          <a:xfrm>
            <a:off x="8666262" y="3460006"/>
            <a:ext cx="2518519" cy="238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923" name="Shape 923"/>
          <p:cNvSpPr>
            <a:spLocks noGrp="1"/>
          </p:cNvSpPr>
          <p:nvPr>
            <p:ph type="pic" sz="quarter" idx="16" hasCustomPrompt="1"/>
          </p:nvPr>
        </p:nvSpPr>
        <p:spPr>
          <a:xfrm>
            <a:off x="6094710" y="3460006"/>
            <a:ext cx="2518520" cy="23875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9" name="Pladsholder til tekst 2">
            <a:extLst>
              <a:ext uri="{FF2B5EF4-FFF2-40B4-BE49-F238E27FC236}">
                <a16:creationId xmlns:a16="http://schemas.microsoft.com/office/drawing/2014/main" id="{8BB8AD52-0BB3-CA4D-99E1-CE03F92CCE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299" y="2997868"/>
            <a:ext cx="5121359" cy="302594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EB291E8-C86A-DB4D-8044-70B520A068D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6298" y="698500"/>
            <a:ext cx="5121358" cy="2159000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8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9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20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21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CDC66BBD-462C-FC74-D17D-BB11435A5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Billede 25">
            <a:extLst>
              <a:ext uri="{FF2B5EF4-FFF2-40B4-BE49-F238E27FC236}">
                <a16:creationId xmlns:a16="http://schemas.microsoft.com/office/drawing/2014/main" id="{E2C94241-4DD0-C988-5780-83C6889E9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6" name="Billede 36">
            <a:extLst>
              <a:ext uri="{FF2B5EF4-FFF2-40B4-BE49-F238E27FC236}">
                <a16:creationId xmlns:a16="http://schemas.microsoft.com/office/drawing/2014/main" id="{8C7A2DC7-CDF1-9863-A215-067798C68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7" name="Billede 37">
            <a:extLst>
              <a:ext uri="{FF2B5EF4-FFF2-40B4-BE49-F238E27FC236}">
                <a16:creationId xmlns:a16="http://schemas.microsoft.com/office/drawing/2014/main" id="{AE4E4CD3-9833-AA0B-4544-B3DD3831E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E3BA842-9F3A-1A6C-5129-D20E5DE3E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8" name="Text Box 48">
            <a:extLst>
              <a:ext uri="{FF2B5EF4-FFF2-40B4-BE49-F238E27FC236}">
                <a16:creationId xmlns:a16="http://schemas.microsoft.com/office/drawing/2014/main" id="{200DB6EC-1608-079E-259C-3DE74FC2CE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0" name="Billede 25">
            <a:extLst>
              <a:ext uri="{FF2B5EF4-FFF2-40B4-BE49-F238E27FC236}">
                <a16:creationId xmlns:a16="http://schemas.microsoft.com/office/drawing/2014/main" id="{D46D9664-D140-9C78-551B-80602AAD52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1" name="Billede 36">
            <a:extLst>
              <a:ext uri="{FF2B5EF4-FFF2-40B4-BE49-F238E27FC236}">
                <a16:creationId xmlns:a16="http://schemas.microsoft.com/office/drawing/2014/main" id="{4FE77C09-A243-C602-4E23-EA0E404F8A1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2" name="Billede 37">
            <a:extLst>
              <a:ext uri="{FF2B5EF4-FFF2-40B4-BE49-F238E27FC236}">
                <a16:creationId xmlns:a16="http://schemas.microsoft.com/office/drawing/2014/main" id="{D7BA4EE6-9CE3-886D-3C2F-DC6A185D282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92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kst og 3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Shape 960"/>
          <p:cNvSpPr>
            <a:spLocks noGrp="1"/>
          </p:cNvSpPr>
          <p:nvPr>
            <p:ph type="pic" sz="half" idx="13" hasCustomPrompt="1"/>
          </p:nvPr>
        </p:nvSpPr>
        <p:spPr>
          <a:xfrm>
            <a:off x="686669" y="775434"/>
            <a:ext cx="2704231" cy="48194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Billede</a:t>
            </a:r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245FB58D-B2F3-BA40-9602-67C2C09C0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0" y="3124201"/>
            <a:ext cx="4721192" cy="246888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7" name="Shape 960">
            <a:extLst>
              <a:ext uri="{FF2B5EF4-FFF2-40B4-BE49-F238E27FC236}">
                <a16:creationId xmlns:a16="http://schemas.microsoft.com/office/drawing/2014/main" id="{9509E857-DDD7-BB48-A63D-EA5EC6828B41}"/>
              </a:ext>
            </a:extLst>
          </p:cNvPr>
          <p:cNvSpPr>
            <a:spLocks noGrp="1"/>
          </p:cNvSpPr>
          <p:nvPr>
            <p:ph type="pic" sz="half" idx="16" hasCustomPrompt="1"/>
          </p:nvPr>
        </p:nvSpPr>
        <p:spPr>
          <a:xfrm>
            <a:off x="3501904" y="775434"/>
            <a:ext cx="2704231" cy="23487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sp>
        <p:nvSpPr>
          <p:cNvPr id="8" name="Shape 960">
            <a:extLst>
              <a:ext uri="{FF2B5EF4-FFF2-40B4-BE49-F238E27FC236}">
                <a16:creationId xmlns:a16="http://schemas.microsoft.com/office/drawing/2014/main" id="{AABAD7F1-5C12-0045-BC2B-87EE445B1F48}"/>
              </a:ext>
            </a:extLst>
          </p:cNvPr>
          <p:cNvSpPr>
            <a:spLocks noGrp="1"/>
          </p:cNvSpPr>
          <p:nvPr>
            <p:ph type="pic" sz="half" idx="17" hasCustomPrompt="1"/>
          </p:nvPr>
        </p:nvSpPr>
        <p:spPr>
          <a:xfrm>
            <a:off x="3501904" y="3244314"/>
            <a:ext cx="2704231" cy="23487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>
            <a:lvl1pPr marL="0" marR="0" indent="0" algn="l" defTabSz="412750" eaLnBrk="1" fontAlgn="auto" latinLnBrk="0" hangingPunct="1">
              <a:lnSpc>
                <a:spcPct val="12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None/>
              <a:tabLst/>
              <a:defRPr b="0" i="0">
                <a:latin typeface="Inter" panose="020B0502030000000004" pitchFamily="34" charset="0"/>
                <a:ea typeface="Inter" panose="020B0502030000000004" pitchFamily="34" charset="0"/>
              </a:defRPr>
            </a:lvl1pPr>
          </a:lstStyle>
          <a:p>
            <a:r>
              <a:rPr lang="da-DK" noProof="0"/>
              <a:t>Billede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2A010A5-FA5B-9941-8B29-87BCBB8AC59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857999" y="788226"/>
            <a:ext cx="4721192" cy="2216232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1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7" name="Billed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8" name="Billed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9" name="Billed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DCF9CC2E-B068-001C-9EBE-EC9FF2E8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6" name="Billede 25">
            <a:extLst>
              <a:ext uri="{FF2B5EF4-FFF2-40B4-BE49-F238E27FC236}">
                <a16:creationId xmlns:a16="http://schemas.microsoft.com/office/drawing/2014/main" id="{A708C8EF-2F64-A13A-58EB-78ED9FB1E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0" name="Billede 36">
            <a:extLst>
              <a:ext uri="{FF2B5EF4-FFF2-40B4-BE49-F238E27FC236}">
                <a16:creationId xmlns:a16="http://schemas.microsoft.com/office/drawing/2014/main" id="{F37B3516-1E88-0331-9DBF-B4DE5C14C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2" name="Billede 37">
            <a:extLst>
              <a:ext uri="{FF2B5EF4-FFF2-40B4-BE49-F238E27FC236}">
                <a16:creationId xmlns:a16="http://schemas.microsoft.com/office/drawing/2014/main" id="{4939E627-12C6-EF54-161C-8F4FA734B3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29CF856-200A-602B-5E3A-03E6C5CA63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9" name="Text Box 48">
            <a:extLst>
              <a:ext uri="{FF2B5EF4-FFF2-40B4-BE49-F238E27FC236}">
                <a16:creationId xmlns:a16="http://schemas.microsoft.com/office/drawing/2014/main" id="{5461D2C8-BB8E-399D-8A79-F9762732D5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3" name="Billede 25">
            <a:extLst>
              <a:ext uri="{FF2B5EF4-FFF2-40B4-BE49-F238E27FC236}">
                <a16:creationId xmlns:a16="http://schemas.microsoft.com/office/drawing/2014/main" id="{24E2193D-474C-E07E-BB25-6716EA8ADC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4" name="Billede 36">
            <a:extLst>
              <a:ext uri="{FF2B5EF4-FFF2-40B4-BE49-F238E27FC236}">
                <a16:creationId xmlns:a16="http://schemas.microsoft.com/office/drawing/2014/main" id="{9D65C0F6-BD28-B83F-0383-540491274B3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5" name="Billede 37">
            <a:extLst>
              <a:ext uri="{FF2B5EF4-FFF2-40B4-BE49-F238E27FC236}">
                <a16:creationId xmlns:a16="http://schemas.microsoft.com/office/drawing/2014/main" id="{D460CAB3-A52E-217B-4141-DA1FB99C83D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025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gram og tekst, vens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DCDA8C03-65BF-4A42-8302-013B2FB0A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49273" y="2792288"/>
            <a:ext cx="5121359" cy="300918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3" name="Pladsholder til diagram 2">
            <a:extLst>
              <a:ext uri="{FF2B5EF4-FFF2-40B4-BE49-F238E27FC236}">
                <a16:creationId xmlns:a16="http://schemas.microsoft.com/office/drawing/2014/main" id="{6D19D23E-E365-DD47-8C2E-349616675CC8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87362" y="492920"/>
            <a:ext cx="5822950" cy="5308553"/>
          </a:xfrm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a-DK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BF62C76-C899-9449-96F4-CCCB8E6455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49273" y="492920"/>
            <a:ext cx="5121358" cy="2164805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89CE6C9-F7D6-25AB-2AA1-90D1A798E8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98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gram og tekst, høj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DCDA8C03-65BF-4A42-8302-013B2FB0A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795" y="2792288"/>
            <a:ext cx="5121359" cy="300918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/>
            </a:lvl1pPr>
            <a:lvl2pPr marL="317500" indent="0">
              <a:lnSpc>
                <a:spcPct val="100000"/>
              </a:lnSpc>
              <a:buFontTx/>
              <a:buNone/>
              <a:defRPr sz="1800"/>
            </a:lvl2pPr>
            <a:lvl3pPr marL="635000" indent="0">
              <a:lnSpc>
                <a:spcPct val="100000"/>
              </a:lnSpc>
              <a:buFontTx/>
              <a:buNone/>
              <a:defRPr sz="1800"/>
            </a:lvl3pPr>
            <a:lvl4pPr marL="952500" indent="0">
              <a:lnSpc>
                <a:spcPct val="100000"/>
              </a:lnSpc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3" name="Pladsholder til diagram 2">
            <a:extLst>
              <a:ext uri="{FF2B5EF4-FFF2-40B4-BE49-F238E27FC236}">
                <a16:creationId xmlns:a16="http://schemas.microsoft.com/office/drawing/2014/main" id="{6D19D23E-E365-DD47-8C2E-349616675CC8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078702" y="492920"/>
            <a:ext cx="5822950" cy="5308553"/>
          </a:xfrm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a-DK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935BD9D-EA64-8447-8EB6-810D36D97A7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02795" y="492920"/>
            <a:ext cx="5121358" cy="2184966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323D691-5DA2-40BF-0B4E-3448047483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gram, horisont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DCDA8C03-65BF-4A42-8302-013B2FB0A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1713" y="492920"/>
            <a:ext cx="5387494" cy="19535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3" name="Pladsholder til diagram 2">
            <a:extLst>
              <a:ext uri="{FF2B5EF4-FFF2-40B4-BE49-F238E27FC236}">
                <a16:creationId xmlns:a16="http://schemas.microsoft.com/office/drawing/2014/main" id="{6D19D23E-E365-DD47-8C2E-349616675CC8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702794" y="2610853"/>
            <a:ext cx="10786412" cy="3111768"/>
          </a:xfrm>
        </p:spPr>
        <p:txBody>
          <a:bodyPr anchor="t" anchorCtr="0"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da-DK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2F8AC84-D7A2-DC45-8AE5-9109A67BC69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02794" y="492920"/>
            <a:ext cx="5121359" cy="1953502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D7B2C19-6AD0-3A13-A623-EE226D1AC3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454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DCDA8C03-65BF-4A42-8302-013B2FB0AB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1713" y="492920"/>
            <a:ext cx="5434650" cy="19535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1pPr>
            <a:lvl2pPr marL="31750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2pPr>
            <a:lvl3pPr marL="635000" indent="0">
              <a:lnSpc>
                <a:spcPct val="100000"/>
              </a:lnSpc>
              <a:buFontTx/>
              <a:buNone/>
              <a:defRPr sz="1800">
                <a:solidFill>
                  <a:schemeClr val="bg1"/>
                </a:solidFill>
              </a:defRPr>
            </a:lvl3pPr>
            <a:lvl4pPr marL="952500" indent="0">
              <a:buFontTx/>
              <a:buNone/>
              <a:defRPr sz="1800"/>
            </a:lvl4pPr>
            <a:lvl5pPr marL="1270000" indent="0">
              <a:buFontTx/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  <p:sp>
        <p:nvSpPr>
          <p:cNvPr id="4" name="Pladsholder til tabel 3">
            <a:extLst>
              <a:ext uri="{FF2B5EF4-FFF2-40B4-BE49-F238E27FC236}">
                <a16:creationId xmlns:a16="http://schemas.microsoft.com/office/drawing/2014/main" id="{3E829910-14C2-7F42-9192-B822384AB902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702469" y="2610000"/>
            <a:ext cx="10833894" cy="3154680"/>
          </a:xfrm>
        </p:spPr>
        <p:txBody>
          <a:bodyPr anchor="t" anchorCtr="0"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table</a:t>
            </a:r>
            <a:endParaRPr lang="da-DK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80B89F7-920F-564D-BFCE-69E6ECD269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02794" y="492920"/>
            <a:ext cx="5121359" cy="1945725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Overskrift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CAA4407-3B84-1F05-4E0F-685BFB7587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635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med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sp>
        <p:nvSpPr>
          <p:cNvPr id="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A74A57FE-ADEE-778E-61CB-9508D6E0F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58349D72-5C1D-0C7A-E004-CDACE43F5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6B5E6D29-0281-12EF-5197-FDAB1E9F3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37C97A0F-3755-C3B4-075E-6B3182572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9" name="Pladsholder til medieklip 4">
            <a:extLst>
              <a:ext uri="{FF2B5EF4-FFF2-40B4-BE49-F238E27FC236}">
                <a16:creationId xmlns:a16="http://schemas.microsoft.com/office/drawing/2014/main" id="{7C2E937C-1254-8E89-5611-771A8B8FD5B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1013619" y="2193925"/>
            <a:ext cx="10165556" cy="3664744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media</a:t>
            </a:r>
            <a:endParaRPr lang="en-GB" dirty="0"/>
          </a:p>
        </p:txBody>
      </p:sp>
      <p:sp>
        <p:nvSpPr>
          <p:cNvPr id="2" name="Text Box 48">
            <a:extLst>
              <a:ext uri="{FF2B5EF4-FFF2-40B4-BE49-F238E27FC236}">
                <a16:creationId xmlns:a16="http://schemas.microsoft.com/office/drawing/2014/main" id="{EC4E673F-CABC-FDB8-5805-49CC8191B5E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3" name="Billede 25">
            <a:extLst>
              <a:ext uri="{FF2B5EF4-FFF2-40B4-BE49-F238E27FC236}">
                <a16:creationId xmlns:a16="http://schemas.microsoft.com/office/drawing/2014/main" id="{BAA3CC5C-C1D2-C65C-4BE0-7584AC6D9F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5" name="Billede 36">
            <a:extLst>
              <a:ext uri="{FF2B5EF4-FFF2-40B4-BE49-F238E27FC236}">
                <a16:creationId xmlns:a16="http://schemas.microsoft.com/office/drawing/2014/main" id="{B10D2244-D934-8EC1-4A70-D6D898A5C6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4" name="Billede 37">
            <a:extLst>
              <a:ext uri="{FF2B5EF4-FFF2-40B4-BE49-F238E27FC236}">
                <a16:creationId xmlns:a16="http://schemas.microsoft.com/office/drawing/2014/main" id="{ED973324-602F-FEF8-8250-16EC23ED14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423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Overskrift	</a:t>
            </a:r>
          </a:p>
        </p:txBody>
      </p:sp>
    </p:spTree>
    <p:extLst>
      <p:ext uri="{BB962C8B-B14F-4D97-AF65-F5344CB8AC3E}">
        <p14:creationId xmlns:p14="http://schemas.microsoft.com/office/powerpoint/2010/main" val="21806566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, punktopstilling rødt V,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400" y="1013400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6F6B6B0-61C0-3541-9DE1-2AC08F2260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sp>
        <p:nvSpPr>
          <p:cNvPr id="2" name="Pladsholder til tekst 2">
            <a:extLst>
              <a:ext uri="{FF2B5EF4-FFF2-40B4-BE49-F238E27FC236}">
                <a16:creationId xmlns:a16="http://schemas.microsoft.com/office/drawing/2014/main" id="{5A10D5FA-E346-67ED-328D-AE1603A7F6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672"/>
            <a:ext cx="4842000" cy="3650404"/>
          </a:xfrm>
        </p:spPr>
        <p:txBody>
          <a:bodyPr anchor="t">
            <a:noAutofit/>
          </a:bodyPr>
          <a:lstStyle>
            <a:lvl1pPr marL="28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800">
                <a:solidFill>
                  <a:schemeClr val="tx1"/>
                </a:solidFill>
              </a:defRPr>
            </a:lvl1pPr>
            <a:lvl2pPr marL="603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600">
                <a:solidFill>
                  <a:schemeClr val="tx1"/>
                </a:solidFill>
              </a:defRPr>
            </a:lvl2pPr>
            <a:lvl3pPr marL="920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400">
                <a:solidFill>
                  <a:schemeClr val="tx1"/>
                </a:solidFill>
              </a:defRPr>
            </a:lvl3pPr>
            <a:lvl4pPr marL="12382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200">
                <a:solidFill>
                  <a:schemeClr val="tx1"/>
                </a:solidFill>
              </a:defRPr>
            </a:lvl4pPr>
            <a:lvl5pPr marL="1555750" indent="-285750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E18D1A8-023A-45A8-5FC3-68AAC943CBA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6481" y="2194200"/>
            <a:ext cx="4842694" cy="36504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800"/>
            </a:lvl2pPr>
            <a:lvl3pPr marL="635000" indent="0">
              <a:lnSpc>
                <a:spcPct val="100000"/>
              </a:lnSpc>
              <a:buNone/>
              <a:defRPr sz="1800"/>
            </a:lvl3pPr>
            <a:lvl4pPr marL="952500" indent="0">
              <a:lnSpc>
                <a:spcPct val="100000"/>
              </a:lnSpc>
              <a:buNone/>
              <a:defRPr sz="1800"/>
            </a:lvl4pPr>
            <a:lvl5pPr marL="1270000" indent="0"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da-DK" dirty="0"/>
              <a:t>Tekst</a:t>
            </a:r>
          </a:p>
        </p:txBody>
      </p:sp>
    </p:spTree>
    <p:extLst>
      <p:ext uri="{BB962C8B-B14F-4D97-AF65-F5344CB8AC3E}">
        <p14:creationId xmlns:p14="http://schemas.microsoft.com/office/powerpoint/2010/main" val="4792542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og med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dirty="0"/>
              <a:t>Overskrift	</a:t>
            </a:r>
            <a:endParaRPr dirty="0"/>
          </a:p>
        </p:txBody>
      </p:sp>
      <p:sp>
        <p:nvSpPr>
          <p:cNvPr id="6" name="Text Box 48"/>
          <p:cNvSpPr txBox="1">
            <a:spLocks noChangeArrowheads="1"/>
          </p:cNvSpPr>
          <p:nvPr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7" name="Bille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8" name="Billed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0" name="Billed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4" name="Text Box 48">
            <a:extLst>
              <a:ext uri="{FF2B5EF4-FFF2-40B4-BE49-F238E27FC236}">
                <a16:creationId xmlns:a16="http://schemas.microsoft.com/office/drawing/2014/main" id="{A74A57FE-ADEE-778E-61CB-9508D6E0FC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213811" y="36095"/>
            <a:ext cx="1645649" cy="366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72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Indsæt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på ikonet i midten af boksen for at indsætte et billede, der passer til dit emne. 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Find VIVEs fotoarkiv her: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M:\Fotos\Powerpoint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 billede</a:t>
            </a:r>
            <a:b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 Klik Formatér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Beskær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for at ændre billedets udsnit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eller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størrelse.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Skalér billede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-knappen nede, mens du trækker i billedets hjørner. Så bevarer</a:t>
            </a:r>
            <a:r>
              <a:rPr 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du proportionerne i billedet.</a:t>
            </a:r>
            <a:endParaRPr 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Tip: </a:t>
            </a:r>
            <a:r>
              <a:rPr 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Hvis du sletter billedet og indsætter et nyt, kan billedet lægge sig foran tekst og grafik. Hvis dette sker, skal du vælge billedet, højreklikke og vælge </a:t>
            </a:r>
            <a:r>
              <a:rPr 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Placer bagerst</a:t>
            </a: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spcAft>
                <a:spcPts val="300"/>
              </a:spcAft>
              <a:defRPr/>
            </a:pPr>
            <a:endParaRPr lang="da-DK" sz="900" b="0" noProof="1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1" name="Billede 25">
            <a:extLst>
              <a:ext uri="{FF2B5EF4-FFF2-40B4-BE49-F238E27FC236}">
                <a16:creationId xmlns:a16="http://schemas.microsoft.com/office/drawing/2014/main" id="{58349D72-5C1D-0C7A-E004-CDACE43F51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2805" y="246646"/>
            <a:ext cx="360000" cy="385115"/>
          </a:xfrm>
          <a:prstGeom prst="rect">
            <a:avLst/>
          </a:prstGeom>
        </p:spPr>
      </p:pic>
      <p:pic>
        <p:nvPicPr>
          <p:cNvPr id="12" name="Billede 36">
            <a:extLst>
              <a:ext uri="{FF2B5EF4-FFF2-40B4-BE49-F238E27FC236}">
                <a16:creationId xmlns:a16="http://schemas.microsoft.com/office/drawing/2014/main" id="{6B5E6D29-0281-12EF-5197-FDAB1E9F3C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72805" y="1125489"/>
            <a:ext cx="360000" cy="343255"/>
          </a:xfrm>
          <a:prstGeom prst="rect">
            <a:avLst/>
          </a:prstGeom>
        </p:spPr>
      </p:pic>
      <p:pic>
        <p:nvPicPr>
          <p:cNvPr id="13" name="Billede 37">
            <a:extLst>
              <a:ext uri="{FF2B5EF4-FFF2-40B4-BE49-F238E27FC236}">
                <a16:creationId xmlns:a16="http://schemas.microsoft.com/office/drawing/2014/main" id="{37C97A0F-3755-C3B4-075E-6B31825729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72805" y="1893415"/>
            <a:ext cx="360000" cy="369231"/>
          </a:xfrm>
          <a:prstGeom prst="rect">
            <a:avLst/>
          </a:prstGeom>
        </p:spPr>
      </p:pic>
      <p:sp>
        <p:nvSpPr>
          <p:cNvPr id="9" name="Pladsholder til medieklip 4">
            <a:extLst>
              <a:ext uri="{FF2B5EF4-FFF2-40B4-BE49-F238E27FC236}">
                <a16:creationId xmlns:a16="http://schemas.microsoft.com/office/drawing/2014/main" id="{7C2E937C-1254-8E89-5611-771A8B8FD5B9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1013619" y="2193925"/>
            <a:ext cx="10165556" cy="3664744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media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65484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Overskrift	</a:t>
            </a:r>
          </a:p>
        </p:txBody>
      </p:sp>
    </p:spTree>
    <p:extLst>
      <p:ext uri="{BB962C8B-B14F-4D97-AF65-F5344CB8AC3E}">
        <p14:creationId xmlns:p14="http://schemas.microsoft.com/office/powerpoint/2010/main" val="32093712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Shape 1032"/>
          <p:cNvSpPr>
            <a:spLocks noGrp="1"/>
          </p:cNvSpPr>
          <p:nvPr>
            <p:ph type="title" hasCustomPrompt="1"/>
          </p:nvPr>
        </p:nvSpPr>
        <p:spPr>
          <a:xfrm>
            <a:off x="1013520" y="1012924"/>
            <a:ext cx="10158611" cy="89138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600" b="1" i="0"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da-DK" noProof="0" dirty="0"/>
              <a:t>Overskrift	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34005D5-500C-2547-B140-067EB39CC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520" y="2194200"/>
            <a:ext cx="10158611" cy="36504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17500" indent="0">
              <a:lnSpc>
                <a:spcPct val="100000"/>
              </a:lnSpc>
              <a:buNone/>
              <a:defRPr sz="1600"/>
            </a:lvl2pPr>
            <a:lvl3pPr marL="635000" indent="0">
              <a:lnSpc>
                <a:spcPct val="100000"/>
              </a:lnSpc>
              <a:buNone/>
              <a:defRPr sz="1400"/>
            </a:lvl3pPr>
            <a:lvl4pPr marL="952500" indent="0">
              <a:lnSpc>
                <a:spcPct val="100000"/>
              </a:lnSpc>
              <a:buNone/>
              <a:defRPr sz="1800"/>
            </a:lvl4pPr>
            <a:lvl5pPr marL="1270000" indent="0"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da-DK" noProof="0" dirty="0"/>
              <a:t>Tekst</a:t>
            </a:r>
          </a:p>
        </p:txBody>
      </p:sp>
    </p:spTree>
    <p:extLst>
      <p:ext uri="{BB962C8B-B14F-4D97-AF65-F5344CB8AC3E}">
        <p14:creationId xmlns:p14="http://schemas.microsoft.com/office/powerpoint/2010/main" val="189844596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02469C5-8AA0-0A97-97EA-17F4B514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00" y="1008000"/>
            <a:ext cx="10152000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/>
              <a:t>Titel</a:t>
            </a:r>
            <a:endParaRPr lang="en-GB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CE0944C-ED5D-9CCA-34C6-45A983DA4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8000" y="2196000"/>
            <a:ext cx="10152000" cy="36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  <a:endParaRPr lang="en-GB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51554A6-3E16-3C8E-1647-59DC566D1CB5}"/>
              </a:ext>
            </a:extLst>
          </p:cNvPr>
          <p:cNvPicPr>
            <a:picLocks noChangeAspect="1"/>
          </p:cNvPicPr>
          <p:nvPr/>
        </p:nvPicPr>
        <p:blipFill>
          <a:blip r:embed="rId3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3ADCD01-2AFF-614B-4935-5B518C8FA5DF}"/>
              </a:ext>
            </a:extLst>
          </p:cNvPr>
          <p:cNvPicPr>
            <a:picLocks noChangeAspect="1"/>
          </p:cNvPicPr>
          <p:nvPr userDrawn="1"/>
        </p:nvPicPr>
        <p:blipFill>
          <a:blip r:embed="rId3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694319" y="5936036"/>
            <a:ext cx="1078582" cy="73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6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72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692" r:id="rId32"/>
    <p:sldLayoutId id="2147483690" r:id="rId33"/>
    <p:sldLayoutId id="2147483691" r:id="rId34"/>
    <p:sldLayoutId id="2147483728" r:id="rId3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kkelVembye/IRM202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ikkelVembye/SRMA-SIG-presentation" TargetMode="External"/><Relationship Id="rId4" Type="http://schemas.openxmlformats.org/officeDocument/2006/relationships/hyperlink" Target="https://mikkelvembye.github.io/AIscreenR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psycnet.apa.org/fulltext/2026-37236-001.html" TargetMode="External"/><Relationship Id="rId7" Type="http://schemas.openxmlformats.org/officeDocument/2006/relationships/hyperlink" Target="https://github.com/MikkelVembye/AIscreen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-strategy.ec.europa.eu/en/policies/regulatory-framework-a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kkelVembye/IRM2026/blob/main/Test%20screening.R" TargetMode="External"/><Relationship Id="rId2" Type="http://schemas.openxmlformats.org/officeDocument/2006/relationships/hyperlink" Target="https://mikkelvembye.github.io/AIscreenR/articles/Using-GPT-API-Models-For-Screening.html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4-54271-x" TargetMode="External"/><Relationship Id="rId2" Type="http://schemas.openxmlformats.org/officeDocument/2006/relationships/hyperlink" Target="https://doi.org/10.3390/systems1107035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A574F64C-61AD-3B43-8649-415A9EFFE6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142" y="4198800"/>
            <a:ext cx="5002951" cy="194010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Mikkel H. Vembye, PhD.</a:t>
            </a:r>
          </a:p>
          <a:p>
            <a:pPr>
              <a:spcBef>
                <a:spcPts val="0"/>
              </a:spcBef>
            </a:pPr>
            <a:r>
              <a:rPr lang="en-US" dirty="0"/>
              <a:t>Researcher </a:t>
            </a:r>
            <a:br>
              <a:rPr lang="en-US" dirty="0"/>
            </a:br>
            <a:r>
              <a:rPr lang="en-US" dirty="0"/>
              <a:t>The Danish Center for Social Science Research</a:t>
            </a:r>
          </a:p>
          <a:p>
            <a:endParaRPr lang="en-US" dirty="0"/>
          </a:p>
          <a:p>
            <a:r>
              <a:rPr lang="en-US" i="1" dirty="0"/>
              <a:t>IRM 2026, Cologne, April 24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579142" y="719092"/>
            <a:ext cx="5386652" cy="3002303"/>
          </a:xfrm>
        </p:spPr>
        <p:txBody>
          <a:bodyPr/>
          <a:lstStyle/>
          <a:p>
            <a:r>
              <a:rPr lang="en-US" sz="2800" dirty="0"/>
              <a:t>How to Use Generative Pretrained Transformer (GPT)  Models as Reliable Second Screeners of Titles and Abstracts in High-Quality Systematic Reviews [workshop]</a:t>
            </a:r>
            <a:endParaRPr lang="da-DK" sz="2800" dirty="0"/>
          </a:p>
        </p:txBody>
      </p:sp>
      <p:pic>
        <p:nvPicPr>
          <p:cNvPr id="7" name="Picture Placeholder 6" descr="A robot and a hand touching a finger&#10;&#10;AI-generated content may be incorrect.">
            <a:extLst>
              <a:ext uri="{FF2B5EF4-FFF2-40B4-BE49-F238E27FC236}">
                <a16:creationId xmlns:a16="http://schemas.microsoft.com/office/drawing/2014/main" id="{B33B4BC4-34A7-4EB8-34B7-931AA2839A9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2" b="2862"/>
          <a:stretch>
            <a:fillRect/>
          </a:stretch>
        </p:blipFill>
        <p:spPr>
          <a:xfrm>
            <a:off x="5725886" y="0"/>
            <a:ext cx="6466114" cy="6858000"/>
          </a:xfrm>
        </p:spPr>
      </p:pic>
    </p:spTree>
    <p:extLst>
      <p:ext uri="{BB962C8B-B14F-4D97-AF65-F5344CB8AC3E}">
        <p14:creationId xmlns:p14="http://schemas.microsoft.com/office/powerpoint/2010/main" val="180037079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4B99-C796-608F-B44F-18B6651A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799860"/>
            <a:ext cx="10158611" cy="891382"/>
          </a:xfrm>
        </p:spPr>
        <p:txBody>
          <a:bodyPr/>
          <a:lstStyle/>
          <a:p>
            <a:r>
              <a:rPr lang="en-US" dirty="0"/>
              <a:t>Workshop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108FC-8008-5739-E84D-6566507E24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20" y="1691241"/>
            <a:ext cx="10158611" cy="4613865"/>
          </a:xfrm>
        </p:spPr>
        <p:txBody>
          <a:bodyPr/>
          <a:lstStyle/>
          <a:p>
            <a:r>
              <a:rPr lang="en-US" sz="2000" dirty="0"/>
              <a:t>Introduction to title and abstract screening with GPT (API) models.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Discuss quality assessment and reliable implementation of AI screening.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Discuss future direction for using AI for literature screening.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Showcase the R package AIscreenR.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400" dirty="0"/>
              <a:t>Find all material behind the presentation at: </a:t>
            </a:r>
            <a:r>
              <a:rPr lang="en-US" sz="1400" dirty="0">
                <a:hlinkClick r:id="rId3"/>
              </a:rPr>
              <a:t>https://github.com/MikkelVembye/IRM2026</a:t>
            </a:r>
            <a:r>
              <a:rPr lang="en-US" sz="1400" dirty="0"/>
              <a:t> </a:t>
            </a:r>
          </a:p>
          <a:p>
            <a:pPr marL="0" indent="0">
              <a:buNone/>
            </a:pPr>
            <a:r>
              <a:rPr lang="en-US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Inter" panose="020B0502030000000004" pitchFamily="34" charset="0"/>
              </a:rPr>
              <a:t>Link to the AIscreenR homepage: 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Inter" panose="020B0502030000000004" pitchFamily="34" charset="0"/>
                <a:hlinkClick r:id="rId4"/>
              </a:rPr>
              <a:t>https://mikkelvembye.github.io/AIscreenR/</a:t>
            </a:r>
            <a:r>
              <a:rPr lang="en-US" sz="14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Inter" panose="020B0502030000000004" pitchFamily="34" charset="0"/>
              </a:rPr>
              <a:t> </a:t>
            </a:r>
            <a:endParaRPr lang="en-US" sz="1600" dirty="0">
              <a:effectLst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Find all material behind this presentation at: </a:t>
            </a: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https://github.com/MikkelVembye/SRMA-SIG-presentation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784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CBF4C-8C3E-4A2A-9231-667B434C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19" y="567233"/>
            <a:ext cx="10602747" cy="891382"/>
          </a:xfrm>
        </p:spPr>
        <p:txBody>
          <a:bodyPr/>
          <a:lstStyle/>
          <a:p>
            <a:r>
              <a:rPr lang="en-US" sz="3200" dirty="0"/>
              <a:t>Why Use AI for Screening in Systematic Reviews?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FB656-913A-4C08-A891-184DF7EF34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19" y="1740837"/>
            <a:ext cx="10158611" cy="4832152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Improve quality</a:t>
            </a:r>
          </a:p>
          <a:p>
            <a:r>
              <a:rPr lang="en-US" sz="2000" dirty="0"/>
              <a:t>Reduces missed studies and human error. While double-screening is the gold standard, it is costly and not always feasible. </a:t>
            </a:r>
          </a:p>
          <a:p>
            <a:r>
              <a:rPr lang="en-US" sz="2000" dirty="0"/>
              <a:t>Enables broader, less restrictive database searches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b="1" dirty="0"/>
              <a:t>Increase efficiency</a:t>
            </a:r>
          </a:p>
          <a:p>
            <a:r>
              <a:rPr lang="en-US" sz="2000" dirty="0"/>
              <a:t>Reduce manual and tedious workload and accelerate the review process</a:t>
            </a:r>
          </a:p>
          <a:p>
            <a:r>
              <a:rPr lang="en-US" sz="2000" dirty="0"/>
              <a:t>Some reviews remain incomplete due to the sheer volume of studies—and this challenge is growing as databases expand.</a:t>
            </a:r>
          </a:p>
          <a:p>
            <a:pPr marL="0" indent="0">
              <a:buNone/>
            </a:pPr>
            <a:endParaRPr lang="da-DK" sz="1600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079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DC8A-C8B6-47BD-AE05-359901F2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567233"/>
            <a:ext cx="10158611" cy="891382"/>
          </a:xfrm>
        </p:spPr>
        <p:txBody>
          <a:bodyPr/>
          <a:lstStyle/>
          <a:p>
            <a:r>
              <a:rPr lang="en-US" dirty="0"/>
              <a:t>What we have tested and developed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E8127-83EB-407E-A370-1CB2535A4F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1238" y="1286540"/>
            <a:ext cx="10310894" cy="4734116"/>
          </a:xfrm>
        </p:spPr>
        <p:txBody>
          <a:bodyPr/>
          <a:lstStyle/>
          <a:p>
            <a:pPr marL="0" indent="0">
              <a:buNone/>
            </a:pPr>
            <a:endParaRPr lang="da-DK" dirty="0"/>
          </a:p>
          <a:p>
            <a:endParaRPr lang="en-US" dirty="0"/>
          </a:p>
        </p:txBody>
      </p:sp>
      <p:pic>
        <p:nvPicPr>
          <p:cNvPr id="9" name="Picture 8">
            <a:hlinkClick r:id="rId3"/>
            <a:extLst>
              <a:ext uri="{FF2B5EF4-FFF2-40B4-BE49-F238E27FC236}">
                <a16:creationId xmlns:a16="http://schemas.microsoft.com/office/drawing/2014/main" id="{88B21517-65C6-2C64-FC4A-3E3AD2401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950" y="1360178"/>
            <a:ext cx="5108050" cy="2473747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EB1ADF5-9BA6-59BE-D743-C3FBC9B1841F}"/>
              </a:ext>
            </a:extLst>
          </p:cNvPr>
          <p:cNvSpPr txBox="1">
            <a:spLocks/>
          </p:cNvSpPr>
          <p:nvPr/>
        </p:nvSpPr>
        <p:spPr>
          <a:xfrm>
            <a:off x="861238" y="1574893"/>
            <a:ext cx="6070430" cy="49534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32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0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82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en-US" dirty="0"/>
              <a:t>We have tested the use of OpenAI’s </a:t>
            </a:r>
            <a:r>
              <a:rPr lang="en-US" b="1" dirty="0"/>
              <a:t>GPT</a:t>
            </a:r>
            <a:r>
              <a:rPr lang="en-US" dirty="0"/>
              <a:t> (Generative Pre-trained Transformer) </a:t>
            </a:r>
            <a:r>
              <a:rPr lang="en-US" b="1" dirty="0"/>
              <a:t>API</a:t>
            </a:r>
            <a:r>
              <a:rPr lang="en-US" dirty="0"/>
              <a:t> (Application Programming Interface) </a:t>
            </a:r>
            <a:r>
              <a:rPr lang="en-US" b="1" dirty="0"/>
              <a:t>models</a:t>
            </a:r>
            <a:r>
              <a:rPr lang="en-US" dirty="0"/>
              <a:t> to screen titles and abstracts and developed guidelines for how to use them reliably. </a:t>
            </a:r>
          </a:p>
          <a:p>
            <a:pPr>
              <a:spcAft>
                <a:spcPts val="800"/>
              </a:spcAft>
            </a:pPr>
            <a:r>
              <a:rPr lang="en-US" dirty="0"/>
              <a:t>Our results show that GPT API models perform at least on par with human screeners’ performances, across many different types of social science reviews. </a:t>
            </a:r>
          </a:p>
          <a:p>
            <a:pPr marL="0" indent="0">
              <a:spcAft>
                <a:spcPts val="800"/>
              </a:spcAft>
              <a:buNone/>
            </a:pPr>
            <a:endParaRPr lang="en-US" dirty="0"/>
          </a:p>
          <a:p>
            <a:pPr>
              <a:spcAft>
                <a:spcPts val="800"/>
              </a:spcAft>
            </a:pPr>
            <a:r>
              <a:rPr lang="en-US" dirty="0"/>
              <a:t>To conduct this type of screening, we have developed the R package AIscreenR (Vembye &amp; Olsen, 2026).</a:t>
            </a:r>
            <a:endParaRPr lang="da-DK" dirty="0"/>
          </a:p>
          <a:p>
            <a:pPr marL="0" indent="0">
              <a:buFontTx/>
              <a:buNone/>
            </a:pPr>
            <a:endParaRPr lang="en-US" b="1" dirty="0"/>
          </a:p>
          <a:p>
            <a:pPr marL="0" indent="0">
              <a:buFontTx/>
              <a:buNone/>
            </a:pPr>
            <a:r>
              <a:rPr lang="en-US" b="1" dirty="0"/>
              <a:t>Based on this, we suggest that GPT API models can be used as full second screeners in state-of-the-art reviews – let me show you the setup!</a:t>
            </a:r>
            <a:endParaRPr lang="da-DK" b="1" dirty="0"/>
          </a:p>
          <a:p>
            <a:endParaRPr lang="da-DK" dirty="0"/>
          </a:p>
          <a:p>
            <a:endParaRPr lang="en-US" dirty="0"/>
          </a:p>
        </p:txBody>
      </p:sp>
      <p:pic>
        <p:nvPicPr>
          <p:cNvPr id="5" name="Picture 4">
            <a:hlinkClick r:id="rId7"/>
            <a:extLst>
              <a:ext uri="{FF2B5EF4-FFF2-40B4-BE49-F238E27FC236}">
                <a16:creationId xmlns:a16="http://schemas.microsoft.com/office/drawing/2014/main" id="{81ADB48C-5D14-F15A-668D-59C166D432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3950" y="4114078"/>
            <a:ext cx="4889696" cy="198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60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DB945-84A1-459F-BDB0-3A970869C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19" y="653328"/>
            <a:ext cx="10158611" cy="891382"/>
          </a:xfrm>
        </p:spPr>
        <p:txBody>
          <a:bodyPr/>
          <a:lstStyle/>
          <a:p>
            <a:r>
              <a:rPr lang="en-US" sz="3300" dirty="0"/>
              <a:t>Why use GPT API models and not just ChatGPT?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05EA0-A9BC-404E-ACA1-91E58435C6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19" y="1722474"/>
            <a:ext cx="10363318" cy="4399049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Avoids copy-paste procedures, and it is easier to bypass model hallucination (perhaps outdated?).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Eases tests of differences between models, prompts, etc.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You can screen an incredibly large number of references in a very short time – in theory, 30.000 records per minute. 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Multiple identical screenings can be performed, and inclusion criteria can be built based on how many times a reference has been included across these screenings.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Research indicates that GPT API models are better suited for screening than ChatGPT (</a:t>
            </a:r>
            <a:r>
              <a:rPr lang="en-US" sz="1600" dirty="0" err="1"/>
              <a:t>Alshami</a:t>
            </a:r>
            <a:r>
              <a:rPr lang="en-US" sz="1600" dirty="0"/>
              <a:t> et al., 2023; </a:t>
            </a:r>
            <a:r>
              <a:rPr lang="en-US" sz="1600" dirty="0" err="1"/>
              <a:t>Gargari</a:t>
            </a:r>
            <a:r>
              <a:rPr lang="en-US" sz="1600" dirty="0"/>
              <a:t> et al., 2024; Guo et al., 2024; </a:t>
            </a:r>
            <a:r>
              <a:rPr lang="en-US" sz="1600" dirty="0" err="1"/>
              <a:t>Issaiy</a:t>
            </a:r>
            <a:r>
              <a:rPr lang="en-US" sz="1600" dirty="0"/>
              <a:t> et al., 2024; </a:t>
            </a:r>
            <a:r>
              <a:rPr lang="en-US" sz="1600" dirty="0" err="1"/>
              <a:t>Khraisha</a:t>
            </a:r>
            <a:r>
              <a:rPr lang="en-US" sz="1600" dirty="0"/>
              <a:t> et al., 2024; </a:t>
            </a:r>
            <a:r>
              <a:rPr lang="en-US" sz="1600" dirty="0" err="1"/>
              <a:t>Syriani</a:t>
            </a:r>
            <a:r>
              <a:rPr lang="en-US" sz="1600" dirty="0"/>
              <a:t> et al., 2024</a:t>
            </a:r>
            <a:r>
              <a:rPr lang="en-US" dirty="0"/>
              <a:t>).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Importantly, our setup has been scientifically tested and validated. </a:t>
            </a:r>
          </a:p>
        </p:txBody>
      </p:sp>
    </p:spTree>
    <p:extLst>
      <p:ext uri="{BB962C8B-B14F-4D97-AF65-F5344CB8AC3E}">
        <p14:creationId xmlns:p14="http://schemas.microsoft.com/office/powerpoint/2010/main" val="423651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2CA6-9FEE-BAFD-474E-778705D2E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389503"/>
            <a:ext cx="10158611" cy="664596"/>
          </a:xfrm>
        </p:spPr>
        <p:txBody>
          <a:bodyPr/>
          <a:lstStyle/>
          <a:p>
            <a:r>
              <a:rPr lang="en-US" dirty="0"/>
              <a:t>Precondition for assessing AI screening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262BF-166C-222F-9200-80D378AFEA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19" y="1306326"/>
            <a:ext cx="10612423" cy="997511"/>
          </a:xfrm>
        </p:spPr>
        <p:txBody>
          <a:bodyPr/>
          <a:lstStyle/>
          <a:p>
            <a:r>
              <a:rPr lang="en-US" dirty="0"/>
              <a:t>To know common human screening behavior</a:t>
            </a:r>
            <a:r>
              <a:rPr lang="da-DK" dirty="0"/>
              <a:t> </a:t>
            </a:r>
          </a:p>
          <a:p>
            <a:r>
              <a:rPr lang="en-US" dirty="0"/>
              <a:t>We find that our assistant/student screeners, on average, have a recall</a:t>
            </a:r>
            <a:r>
              <a:rPr lang="da-DK" dirty="0"/>
              <a:t> = </a:t>
            </a:r>
            <a:r>
              <a:rPr lang="it-IT" sz="1800" b="0" i="0" u="none" strike="noStrike" baseline="0" dirty="0"/>
              <a:t>0.782, 95% </a:t>
            </a:r>
            <a:r>
              <a:rPr lang="it-IT" sz="1800" b="0" u="none" strike="noStrike" baseline="0" dirty="0"/>
              <a:t>CI</a:t>
            </a:r>
            <a:r>
              <a:rPr lang="it-IT" sz="1800" b="0" i="0" u="none" strike="noStrike" baseline="0" dirty="0"/>
              <a:t>[0.747, 0.817]</a:t>
            </a:r>
            <a:endParaRPr lang="en-US" dirty="0"/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4DD1677E-8FFD-9C30-6410-4C78E8AB9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56" y="2303837"/>
            <a:ext cx="7740513" cy="451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6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2CA6-9FEE-BAFD-474E-778705D2E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389503"/>
            <a:ext cx="10158611" cy="666412"/>
          </a:xfrm>
        </p:spPr>
        <p:txBody>
          <a:bodyPr/>
          <a:lstStyle/>
          <a:p>
            <a:r>
              <a:rPr lang="da-DK" dirty="0" err="1"/>
              <a:t>Precondition</a:t>
            </a:r>
            <a:r>
              <a:rPr lang="da-DK" dirty="0"/>
              <a:t> for </a:t>
            </a:r>
            <a:r>
              <a:rPr lang="da-DK" dirty="0" err="1"/>
              <a:t>assessing</a:t>
            </a:r>
            <a:r>
              <a:rPr lang="da-DK" dirty="0"/>
              <a:t> AI screening </a:t>
            </a:r>
            <a:r>
              <a:rPr lang="da-DK" dirty="0" err="1"/>
              <a:t>cont</a:t>
            </a:r>
            <a:r>
              <a:rPr lang="da-DK" dirty="0"/>
              <a:t>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262BF-166C-222F-9200-80D378AFEA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20" y="1397926"/>
            <a:ext cx="10797480" cy="1541217"/>
          </a:xfrm>
        </p:spPr>
        <p:txBody>
          <a:bodyPr/>
          <a:lstStyle/>
          <a:p>
            <a:r>
              <a:rPr lang="en-US" dirty="0"/>
              <a:t>Researchers and/or content-experts have slightly higher recalls.</a:t>
            </a:r>
          </a:p>
          <a:p>
            <a:r>
              <a:rPr lang="en-US" dirty="0"/>
              <a:t>We find in our own group researchers have, on average, a recall = </a:t>
            </a:r>
            <a:r>
              <a:rPr lang="en-US" sz="1800" b="0" i="0" u="none" strike="noStrike" baseline="0" dirty="0"/>
              <a:t>0.881, 95% CI [0.823, 0.931]</a:t>
            </a:r>
            <a:r>
              <a:rPr lang="en-US" dirty="0"/>
              <a:t> </a:t>
            </a:r>
          </a:p>
          <a:p>
            <a:r>
              <a:rPr lang="en-US" dirty="0"/>
              <a:t>Using data from the Norwegian Institute for Public Health, comparing researcher-researcher screenings only, we find that the average recall drops to </a:t>
            </a:r>
            <a:r>
              <a:rPr lang="en-US" sz="1800" b="0" i="0" u="none" strike="noStrike" baseline="0" dirty="0"/>
              <a:t>0.839, 95% CI [0.737, 0.920]. </a:t>
            </a:r>
          </a:p>
          <a:p>
            <a:endParaRPr lang="it-IT" dirty="0">
              <a:latin typeface="AdvOTf9433e2d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aph of a statistical analysis&#10;&#10;AI-generated content may be incorrect.">
            <a:extLst>
              <a:ext uri="{FF2B5EF4-FFF2-40B4-BE49-F238E27FC236}">
                <a16:creationId xmlns:a16="http://schemas.microsoft.com/office/drawing/2014/main" id="{4BFD04EE-581C-163D-47ED-E1F79462C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81" y="3101340"/>
            <a:ext cx="10158611" cy="296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82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D593-614D-4968-8C19-D5306B02A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00" y="745796"/>
            <a:ext cx="10158611" cy="891382"/>
          </a:xfrm>
        </p:spPr>
        <p:txBody>
          <a:bodyPr/>
          <a:lstStyle/>
          <a:p>
            <a:r>
              <a:rPr lang="en-US" dirty="0"/>
              <a:t>Quality assessment via benchmarking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9FA91-E8A0-4550-90C3-54F42287ED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1026" y="1898653"/>
            <a:ext cx="5082479" cy="4082838"/>
          </a:xfrm>
        </p:spPr>
        <p:txBody>
          <a:bodyPr/>
          <a:lstStyle/>
          <a:p>
            <a:r>
              <a:rPr lang="en-US" dirty="0"/>
              <a:t>We have developed a benchmark scheme based on our and our Campbell students' typical screening performances, which can be used to ensure the quality of title and abstract screenings.</a:t>
            </a:r>
          </a:p>
          <a:p>
            <a:r>
              <a:rPr lang="en-US" dirty="0"/>
              <a:t>In general, we recommend that GPT screenings should yield recalls above 75% to be usable in high-quality reviews. </a:t>
            </a:r>
          </a:p>
          <a:p>
            <a:r>
              <a:rPr lang="en-US" dirty="0"/>
              <a:t>Content-experts/researchers typically have</a:t>
            </a:r>
            <a:r>
              <a:rPr lang="da-DK" dirty="0"/>
              <a:t> </a:t>
            </a:r>
            <a:r>
              <a:rPr lang="en-US" dirty="0"/>
              <a:t>recalls</a:t>
            </a:r>
            <a:r>
              <a:rPr lang="da-DK" dirty="0"/>
              <a:t> </a:t>
            </a:r>
            <a:r>
              <a:rPr lang="en-US" dirty="0"/>
              <a:t>around 83%.</a:t>
            </a:r>
          </a:p>
          <a:p>
            <a:r>
              <a:rPr lang="en-US" dirty="0"/>
              <a:t>It is more challenging to set good guidelines for specificity. If recall is high, specificity matters less. It is simply an extra safeguard.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C7367-E853-4B1C-B2F0-501444FB8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044" y="1898653"/>
            <a:ext cx="6195930" cy="360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8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028E-9DBB-46BB-B086-D781FB442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053" y="567233"/>
            <a:ext cx="10251078" cy="891382"/>
          </a:xfrm>
        </p:spPr>
        <p:txBody>
          <a:bodyPr/>
          <a:lstStyle/>
          <a:p>
            <a:r>
              <a:rPr lang="en-US" dirty="0"/>
              <a:t>Why we consider benchmarking all-important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72755-1361-461B-983A-DE7B16F5E7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1054" y="1736333"/>
            <a:ext cx="10251078" cy="4108743"/>
          </a:xfrm>
        </p:spPr>
        <p:txBody>
          <a:bodyPr/>
          <a:lstStyle/>
          <a:p>
            <a:r>
              <a:rPr lang="en-US" dirty="0"/>
              <a:t>Guards against bad and biased screenings that are inferior to human screening. </a:t>
            </a:r>
          </a:p>
          <a:p>
            <a:endParaRPr lang="en-US" dirty="0"/>
          </a:p>
          <a:p>
            <a:r>
              <a:rPr lang="en-US" dirty="0"/>
              <a:t>It allows for context-specific assessments of the efficacy of using GPT API models as second screeners.</a:t>
            </a:r>
          </a:p>
          <a:p>
            <a:endParaRPr lang="en-US" dirty="0"/>
          </a:p>
          <a:p>
            <a:r>
              <a:rPr lang="da-DK" dirty="0"/>
              <a:t>As </a:t>
            </a:r>
            <a:r>
              <a:rPr lang="en-US" dirty="0"/>
              <a:t>we cannot control model developments, the benchmark scheme ensures that we can monitor model performances over time. Meaning that if we experience that a model suddenly cannot live up to our benchmarks we can stop using it. </a:t>
            </a:r>
          </a:p>
          <a:p>
            <a:endParaRPr lang="da-DK" dirty="0"/>
          </a:p>
          <a:p>
            <a:r>
              <a:rPr lang="da-DK" dirty="0"/>
              <a:t>A</a:t>
            </a:r>
            <a:r>
              <a:rPr lang="en-US" dirty="0"/>
              <a:t>voids the wild-west and ensures standardization of this screening approach.</a:t>
            </a:r>
          </a:p>
        </p:txBody>
      </p:sp>
    </p:spTree>
    <p:extLst>
      <p:ext uri="{BB962C8B-B14F-4D97-AF65-F5344CB8AC3E}">
        <p14:creationId xmlns:p14="http://schemas.microsoft.com/office/powerpoint/2010/main" val="11992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4FB1-1DD4-4639-855A-362928431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19" y="567233"/>
            <a:ext cx="10158611" cy="891382"/>
          </a:xfrm>
        </p:spPr>
        <p:txBody>
          <a:bodyPr/>
          <a:lstStyle/>
          <a:p>
            <a:r>
              <a:rPr lang="da-DK" dirty="0"/>
              <a:t>H</a:t>
            </a:r>
            <a:r>
              <a:rPr lang="en-US" dirty="0"/>
              <a:t>ow generalizable is this approach?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961D5-5AD9-4CA6-BC3E-E902F6121A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18" y="1458614"/>
            <a:ext cx="10158611" cy="49113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have conducted three large-scale classification experiments with different levels of complexity in terms of the number of inclusion criteria. Herein we found that: </a:t>
            </a:r>
            <a:br>
              <a:rPr lang="en-US" dirty="0"/>
            </a:br>
            <a:endParaRPr lang="en-US" dirty="0"/>
          </a:p>
          <a:p>
            <a:pPr>
              <a:spcAft>
                <a:spcPts val="800"/>
              </a:spcAft>
            </a:pPr>
            <a:r>
              <a:rPr lang="en-US" dirty="0"/>
              <a:t>GPT API models can perform on par with or in some cases even better typical human second screeners in high-quality systematic reviews (Vembye et al., 2025). All models yield recalls above 80% in all of our experiments while showing high exclusion rate as well. </a:t>
            </a:r>
          </a:p>
          <a:p>
            <a:pPr>
              <a:spcAft>
                <a:spcPts val="800"/>
              </a:spcAft>
            </a:pPr>
            <a:r>
              <a:rPr lang="en-US" dirty="0"/>
              <a:t>GPT-4 model can be rather over-inclusive in complex review settings.</a:t>
            </a:r>
          </a:p>
          <a:p>
            <a:pPr>
              <a:spcAft>
                <a:spcPts val="800"/>
              </a:spcAft>
            </a:pPr>
            <a:r>
              <a:rPr lang="en-US" dirty="0"/>
              <a:t>The GPT-4 model outperforms </a:t>
            </a:r>
            <a:r>
              <a:rPr lang="da-DK" dirty="0"/>
              <a:t>the GPT-3.5-turbo model. </a:t>
            </a:r>
            <a:r>
              <a:rPr lang="en-US" dirty="0"/>
              <a:t>We therefore recommend primarily using GPT-4 models for title and abstract screening</a:t>
            </a:r>
            <a:r>
              <a:rPr lang="da-DK" dirty="0"/>
              <a:t>.</a:t>
            </a:r>
          </a:p>
          <a:p>
            <a:pPr>
              <a:spcAft>
                <a:spcPts val="800"/>
              </a:spcAft>
            </a:pPr>
            <a:r>
              <a:rPr lang="en-US" dirty="0"/>
              <a:t>Moreover, our newest results suggest that GPT-4o-mini, which is 200 times cheaper than GPT-4, can perform on par the GPT-4, when using 10 screenings</a:t>
            </a:r>
            <a:r>
              <a:rPr lang="da-DK" dirty="0"/>
              <a:t>. </a:t>
            </a:r>
            <a:r>
              <a:rPr lang="en-US" dirty="0"/>
              <a:t>This is a game-changer in order to reduce the cost of this screening approach.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849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3354405-76D0-4268-8EE0-44258B5D5318}"/>
              </a:ext>
            </a:extLst>
          </p:cNvPr>
          <p:cNvSpPr txBox="1">
            <a:spLocks/>
          </p:cNvSpPr>
          <p:nvPr/>
        </p:nvSpPr>
        <p:spPr>
          <a:xfrm>
            <a:off x="1013520" y="1119244"/>
            <a:ext cx="4791378" cy="49114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32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0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82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Advantages</a:t>
            </a:r>
          </a:p>
          <a:p>
            <a:pPr>
              <a:spcAft>
                <a:spcPts val="800"/>
              </a:spcAft>
            </a:pPr>
            <a:r>
              <a:rPr lang="en-US" dirty="0"/>
              <a:t>Equal treatment of all titles and abstracts</a:t>
            </a:r>
          </a:p>
          <a:p>
            <a:pPr>
              <a:spcAft>
                <a:spcPts val="800"/>
              </a:spcAft>
            </a:pPr>
            <a:r>
              <a:rPr lang="en-US" dirty="0"/>
              <a:t>It is most often accurate</a:t>
            </a:r>
          </a:p>
          <a:p>
            <a:pPr>
              <a:spcAft>
                <a:spcPts val="800"/>
              </a:spcAft>
            </a:pPr>
            <a:r>
              <a:rPr lang="en-US" dirty="0"/>
              <a:t>It is fast</a:t>
            </a:r>
          </a:p>
          <a:p>
            <a:pPr>
              <a:spcAft>
                <a:spcPts val="800"/>
              </a:spcAft>
            </a:pPr>
            <a:r>
              <a:rPr lang="en-US" dirty="0"/>
              <a:t>It is cheap </a:t>
            </a:r>
          </a:p>
          <a:p>
            <a:pPr>
              <a:spcAft>
                <a:spcPts val="800"/>
              </a:spcAft>
            </a:pPr>
            <a:r>
              <a:rPr lang="en-US" dirty="0"/>
              <a:t>Can guard against human drifting. </a:t>
            </a:r>
          </a:p>
          <a:p>
            <a:pPr>
              <a:spcAft>
                <a:spcPts val="800"/>
              </a:spcAft>
            </a:pPr>
            <a:r>
              <a:rPr lang="en-US" dirty="0"/>
              <a:t>Extra insurance that you have found all relevant records. It can also be used as a third screener.</a:t>
            </a:r>
          </a:p>
          <a:p>
            <a:pPr>
              <a:spcAft>
                <a:spcPts val="800"/>
              </a:spcAft>
            </a:pPr>
            <a:r>
              <a:rPr lang="en-US" dirty="0"/>
              <a:t>Agnostic to data imbalance</a:t>
            </a:r>
          </a:p>
          <a:p>
            <a:pPr>
              <a:spcAft>
                <a:spcPts val="800"/>
              </a:spcAft>
            </a:pPr>
            <a:r>
              <a:rPr lang="da-DK" dirty="0"/>
              <a:t>I</a:t>
            </a:r>
            <a:r>
              <a:rPr lang="en-US" dirty="0"/>
              <a:t>t’s flexible. That is, it can rapidly be fitted to many different situations.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21D327-15E9-4E70-9F92-DF468CD22F8E}"/>
              </a:ext>
            </a:extLst>
          </p:cNvPr>
          <p:cNvCxnSpPr/>
          <p:nvPr/>
        </p:nvCxnSpPr>
        <p:spPr>
          <a:xfrm>
            <a:off x="5911065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98C565C-8029-417C-A754-F2EB651C3271}"/>
              </a:ext>
            </a:extLst>
          </p:cNvPr>
          <p:cNvSpPr txBox="1">
            <a:spLocks/>
          </p:cNvSpPr>
          <p:nvPr/>
        </p:nvSpPr>
        <p:spPr>
          <a:xfrm>
            <a:off x="6460287" y="1119245"/>
            <a:ext cx="4791378" cy="45868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32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0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82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110000"/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2400" b="1" dirty="0"/>
              <a:t>Limitations</a:t>
            </a:r>
          </a:p>
          <a:p>
            <a:pPr>
              <a:spcAft>
                <a:spcPts val="800"/>
              </a:spcAft>
            </a:pPr>
            <a:r>
              <a:rPr lang="en-US" dirty="0"/>
              <a:t>Black-box models (notice: human screening most often represents a black-box operation as well)</a:t>
            </a:r>
          </a:p>
          <a:p>
            <a:pPr>
              <a:spcAft>
                <a:spcPts val="800"/>
              </a:spcAft>
            </a:pPr>
            <a:r>
              <a:rPr lang="en-US" dirty="0"/>
              <a:t>Off-the-shelf method changing over time.</a:t>
            </a:r>
          </a:p>
          <a:p>
            <a:pPr>
              <a:spcAft>
                <a:spcPts val="800"/>
              </a:spcAft>
            </a:pPr>
            <a:r>
              <a:rPr lang="en-US" dirty="0"/>
              <a:t>It can be prompt sensitive</a:t>
            </a:r>
          </a:p>
          <a:p>
            <a:pPr>
              <a:spcAft>
                <a:spcPts val="800"/>
              </a:spcAft>
            </a:pPr>
            <a:r>
              <a:rPr lang="en-US" dirty="0"/>
              <a:t>Potentially large environmental impact </a:t>
            </a:r>
          </a:p>
          <a:p>
            <a:pPr>
              <a:spcAft>
                <a:spcPts val="800"/>
              </a:spcAft>
            </a:pPr>
            <a:r>
              <a:rPr lang="en-US" dirty="0"/>
              <a:t>Hard to keep up with new model developments</a:t>
            </a:r>
          </a:p>
        </p:txBody>
      </p:sp>
    </p:spTree>
    <p:extLst>
      <p:ext uri="{BB962C8B-B14F-4D97-AF65-F5344CB8AC3E}">
        <p14:creationId xmlns:p14="http://schemas.microsoft.com/office/powerpoint/2010/main" val="1089913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2F4B-2F1B-4E25-91F5-84B9657D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B0754-7E32-4245-8E5E-2D4F888965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dirty="0"/>
              <a:t>Test with local models such as the models on </a:t>
            </a:r>
            <a:r>
              <a:rPr lang="en-US" dirty="0" err="1"/>
              <a:t>Ollama</a:t>
            </a:r>
            <a:r>
              <a:rPr lang="en-US" dirty="0"/>
              <a:t> or from </a:t>
            </a:r>
            <a:r>
              <a:rPr lang="en-US" dirty="0" err="1"/>
              <a:t>MistralAI</a:t>
            </a:r>
            <a:r>
              <a:rPr lang="en-US" dirty="0"/>
              <a:t>. This would freeze the efficacy of this approach and increase its transparency. </a:t>
            </a:r>
          </a:p>
          <a:p>
            <a:pPr>
              <a:spcAft>
                <a:spcPts val="800"/>
              </a:spcAft>
            </a:pPr>
            <a:r>
              <a:rPr lang="en-US" dirty="0"/>
              <a:t>Consider how to combine GPT screenings with traditional (semi)-automated screening tools, such as priority and classifier screening, most efficiently. </a:t>
            </a:r>
          </a:p>
          <a:p>
            <a:pPr>
              <a:spcAft>
                <a:spcPts val="800"/>
              </a:spcAft>
            </a:pPr>
            <a:r>
              <a:rPr lang="en-US" dirty="0"/>
              <a:t>Consider how fine-tuning can support the reliability of the screening approach even further</a:t>
            </a:r>
            <a:r>
              <a:rPr lang="da-DK" dirty="0"/>
              <a:t>?</a:t>
            </a:r>
            <a:endParaRPr lang="en-US" dirty="0"/>
          </a:p>
          <a:p>
            <a:pPr>
              <a:spcAft>
                <a:spcPts val="800"/>
              </a:spcAft>
            </a:pPr>
            <a:r>
              <a:rPr lang="en-US" dirty="0"/>
              <a:t>Implementation in standard review tools such as EPPI Reviewer, Covidence, Meta-Reviewer etc. </a:t>
            </a:r>
          </a:p>
          <a:p>
            <a:pPr lvl="1">
              <a:spcAft>
                <a:spcPts val="800"/>
              </a:spcAft>
            </a:pPr>
            <a:r>
              <a:rPr lang="en-US" dirty="0"/>
              <a:t> Alternatively</a:t>
            </a:r>
            <a:r>
              <a:rPr lang="da-DK" dirty="0"/>
              <a:t>, </a:t>
            </a:r>
            <a:r>
              <a:rPr lang="en-US" dirty="0"/>
              <a:t>a shiny app could be made to ease user-friendliness</a:t>
            </a:r>
            <a:r>
              <a:rPr lang="da-DK" dirty="0"/>
              <a:t>. </a:t>
            </a:r>
          </a:p>
          <a:p>
            <a:pPr marL="317500" lvl="1" indent="0">
              <a:spcAft>
                <a:spcPts val="80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430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2F4B-2F1B-4E25-91F5-84B9657D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perspectives – the future is AI!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B0754-7E32-4245-8E5E-2D4F888965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lang="en-US" dirty="0"/>
              <a:t>My projection: Title and abstract and full text screening will be more or less eradicated within the next 10 years.</a:t>
            </a:r>
          </a:p>
          <a:p>
            <a:pPr>
              <a:spcAft>
                <a:spcPts val="800"/>
              </a:spcAft>
            </a:pPr>
            <a:r>
              <a:rPr lang="en-US" dirty="0"/>
              <a:t>We need local models to overcome legal issues. Extremely important when conducting full-text screening, data extraction, and risk of bias. </a:t>
            </a:r>
          </a:p>
          <a:p>
            <a:pPr>
              <a:spcAft>
                <a:spcPts val="800"/>
              </a:spcAft>
            </a:pPr>
            <a:r>
              <a:rPr lang="en-US" dirty="0"/>
              <a:t>Many countries’ licensing agreements with publishers do not allow uploading PDF/full text to remote commercial AIs. Even if they do, it might be problematic due to the </a:t>
            </a:r>
            <a:r>
              <a:rPr lang="en-US" dirty="0">
                <a:hlinkClick r:id="rId3"/>
              </a:rPr>
              <a:t>European AI Act</a:t>
            </a:r>
            <a:r>
              <a:rPr lang="en-US" dirty="0"/>
              <a:t>.</a:t>
            </a:r>
          </a:p>
          <a:p>
            <a:pPr marL="317500" lvl="1" indent="0">
              <a:spcAft>
                <a:spcPts val="80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00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000F-0F5B-467B-B486-FB25DDC2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AIscreenR 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073E7-0C6E-4E37-8606-9294650148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20" y="2668380"/>
            <a:ext cx="9304524" cy="3825882"/>
          </a:xfrm>
        </p:spPr>
        <p:txBody>
          <a:bodyPr/>
          <a:lstStyle/>
          <a:p>
            <a:pPr marL="0" indent="0">
              <a:buNone/>
            </a:pPr>
            <a:endParaRPr lang="da-DK" i="1" dirty="0"/>
          </a:p>
          <a:p>
            <a:pPr marL="0" indent="0">
              <a:buNone/>
            </a:pPr>
            <a:r>
              <a:rPr lang="en-US" i="1" dirty="0"/>
              <a:t>Link to the package vignette: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https://mikkelvembye.github.io/AIscreenR/articles/Using-GPT-API-Models-For-Screening.html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i="1" dirty="0"/>
              <a:t>Link to R codes behind the presentation: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https://github.com/MikkelVembye/IRM2026/blob/main/Test%20screening.R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4329E-E87C-407A-AE52-8679855D0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920" y="694541"/>
            <a:ext cx="2090877" cy="241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12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F57F-DDB0-4FCA-B9E2-2144487F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261" y="354768"/>
            <a:ext cx="10158611" cy="891382"/>
          </a:xfrm>
        </p:spPr>
        <p:txBody>
          <a:bodyPr/>
          <a:lstStyle/>
          <a:p>
            <a:r>
              <a:rPr lang="da-DK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0E70B-0541-41E7-91ED-633FC2BB8E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2262" y="1246150"/>
            <a:ext cx="10158611" cy="5381291"/>
          </a:xfrm>
        </p:spPr>
        <p:txBody>
          <a:bodyPr/>
          <a:lstStyle/>
          <a:p>
            <a:r>
              <a:rPr lang="da-DK" sz="1200" dirty="0" err="1"/>
              <a:t>Alshami</a:t>
            </a:r>
            <a:r>
              <a:rPr lang="da-DK" sz="1200" dirty="0"/>
              <a:t>, A., </a:t>
            </a:r>
            <a:r>
              <a:rPr lang="da-DK" sz="1200" dirty="0" err="1"/>
              <a:t>Elsayed</a:t>
            </a:r>
            <a:r>
              <a:rPr lang="da-DK" sz="1200" dirty="0"/>
              <a:t>, M., Ali, E., </a:t>
            </a:r>
            <a:r>
              <a:rPr lang="da-DK" sz="1200" dirty="0" err="1"/>
              <a:t>Eltoukhy</a:t>
            </a:r>
            <a:r>
              <a:rPr lang="da-DK" sz="1200" dirty="0"/>
              <a:t>, A. E. E., &amp; </a:t>
            </a:r>
            <a:r>
              <a:rPr lang="da-DK" sz="1200" dirty="0" err="1"/>
              <a:t>Zayed</a:t>
            </a:r>
            <a:r>
              <a:rPr lang="da-DK" sz="1200" dirty="0"/>
              <a:t>, T. (2023). </a:t>
            </a:r>
            <a:r>
              <a:rPr lang="da-DK" sz="1200" dirty="0" err="1"/>
              <a:t>Harnessing</a:t>
            </a:r>
            <a:r>
              <a:rPr lang="da-DK" sz="1200" dirty="0"/>
              <a:t> the power of ChatGPT for </a:t>
            </a:r>
            <a:r>
              <a:rPr lang="da-DK" sz="1200" dirty="0" err="1"/>
              <a:t>automating</a:t>
            </a:r>
            <a:r>
              <a:rPr lang="da-DK" sz="1200" dirty="0"/>
              <a:t>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</a:t>
            </a:r>
            <a:r>
              <a:rPr lang="da-DK" sz="1200" dirty="0"/>
              <a:t> </a:t>
            </a:r>
            <a:r>
              <a:rPr lang="da-DK" sz="1200" dirty="0" err="1"/>
              <a:t>process</a:t>
            </a:r>
            <a:r>
              <a:rPr lang="da-DK" sz="1200" dirty="0"/>
              <a:t>: </a:t>
            </a:r>
            <a:r>
              <a:rPr lang="da-DK" sz="1200" dirty="0" err="1"/>
              <a:t>Methodology</a:t>
            </a:r>
            <a:r>
              <a:rPr lang="da-DK" sz="1200" dirty="0"/>
              <a:t>, case </a:t>
            </a:r>
            <a:r>
              <a:rPr lang="da-DK" sz="1200" dirty="0" err="1"/>
              <a:t>study</a:t>
            </a:r>
            <a:r>
              <a:rPr lang="da-DK" sz="1200" dirty="0"/>
              <a:t>, </a:t>
            </a:r>
            <a:r>
              <a:rPr lang="da-DK" sz="1200" dirty="0" err="1"/>
              <a:t>limitations</a:t>
            </a:r>
            <a:r>
              <a:rPr lang="da-DK" sz="1200" dirty="0"/>
              <a:t>, and future </a:t>
            </a:r>
            <a:r>
              <a:rPr lang="da-DK" sz="1200" dirty="0" err="1"/>
              <a:t>directions</a:t>
            </a:r>
            <a:r>
              <a:rPr lang="da-DK" sz="1200" dirty="0"/>
              <a:t>. </a:t>
            </a:r>
            <a:r>
              <a:rPr lang="da-DK" sz="1200" i="1" dirty="0"/>
              <a:t>Systems</a:t>
            </a:r>
            <a:r>
              <a:rPr lang="da-DK" sz="1200" dirty="0"/>
              <a:t>, </a:t>
            </a:r>
            <a:r>
              <a:rPr lang="da-DK" sz="1200" i="1" dirty="0"/>
              <a:t>11</a:t>
            </a:r>
            <a:r>
              <a:rPr lang="da-DK" sz="1200" dirty="0"/>
              <a:t>(7), 351. </a:t>
            </a:r>
            <a:r>
              <a:rPr lang="da-DK" sz="1200" dirty="0">
                <a:hlinkClick r:id="rId2"/>
              </a:rPr>
              <a:t>https://doi.org/10.3390/systems11070351</a:t>
            </a:r>
            <a:endParaRPr lang="da-DK" sz="1200" dirty="0"/>
          </a:p>
          <a:p>
            <a:r>
              <a:rPr lang="da-DK" sz="1200" dirty="0"/>
              <a:t>Campbell Collaboration. (2023). </a:t>
            </a:r>
            <a:r>
              <a:rPr lang="da-DK" sz="1200" i="1" dirty="0"/>
              <a:t>Stepping up </a:t>
            </a:r>
            <a:r>
              <a:rPr lang="da-DK" sz="1200" i="1" dirty="0" err="1"/>
              <a:t>evidence</a:t>
            </a:r>
            <a:r>
              <a:rPr lang="da-DK" sz="1200" i="1" dirty="0"/>
              <a:t> </a:t>
            </a:r>
            <a:r>
              <a:rPr lang="da-DK" sz="1200" i="1" dirty="0" err="1"/>
              <a:t>synthesis</a:t>
            </a:r>
            <a:r>
              <a:rPr lang="da-DK" sz="1200" i="1" dirty="0"/>
              <a:t>: faster, </a:t>
            </a:r>
            <a:r>
              <a:rPr lang="da-DK" sz="1200" i="1" dirty="0" err="1"/>
              <a:t>cheaper</a:t>
            </a:r>
            <a:r>
              <a:rPr lang="da-DK" sz="1200" i="1" dirty="0"/>
              <a:t> and more </a:t>
            </a:r>
            <a:r>
              <a:rPr lang="da-DK" sz="1200" i="1" dirty="0" err="1"/>
              <a:t>useful</a:t>
            </a:r>
            <a:r>
              <a:rPr lang="da-DK" sz="1200" dirty="0"/>
              <a:t>. https://www.campbellcollaboration.org/news-and-events/news/stepping-up-evidence-synthesis.html</a:t>
            </a:r>
            <a:endParaRPr lang="en-US" sz="1200" dirty="0"/>
          </a:p>
          <a:p>
            <a:r>
              <a:rPr lang="da-DK" sz="1200" dirty="0" err="1"/>
              <a:t>Gargari</a:t>
            </a:r>
            <a:r>
              <a:rPr lang="da-DK" sz="1200" dirty="0"/>
              <a:t>, O. K., </a:t>
            </a:r>
            <a:r>
              <a:rPr lang="da-DK" sz="1200" dirty="0" err="1"/>
              <a:t>Mahmoudi</a:t>
            </a:r>
            <a:r>
              <a:rPr lang="da-DK" sz="1200" dirty="0"/>
              <a:t>, M. H., </a:t>
            </a:r>
            <a:r>
              <a:rPr lang="da-DK" sz="1200" dirty="0" err="1"/>
              <a:t>Hajisafarali</a:t>
            </a:r>
            <a:r>
              <a:rPr lang="da-DK" sz="1200" dirty="0"/>
              <a:t>, M., &amp; </a:t>
            </a:r>
            <a:r>
              <a:rPr lang="da-DK" sz="1200" dirty="0" err="1"/>
              <a:t>Samiee</a:t>
            </a:r>
            <a:r>
              <a:rPr lang="da-DK" sz="1200" dirty="0"/>
              <a:t>, R. (2024). </a:t>
            </a:r>
            <a:r>
              <a:rPr lang="da-DK" sz="1200" dirty="0" err="1"/>
              <a:t>Enhancing</a:t>
            </a:r>
            <a:r>
              <a:rPr lang="da-DK" sz="1200" dirty="0"/>
              <a:t> </a:t>
            </a:r>
            <a:r>
              <a:rPr lang="da-DK" sz="1200" dirty="0" err="1"/>
              <a:t>title</a:t>
            </a:r>
            <a:r>
              <a:rPr lang="da-DK" sz="1200" dirty="0"/>
              <a:t> and abstract screening for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 with GPT-3.5 turbo. </a:t>
            </a:r>
            <a:r>
              <a:rPr lang="da-DK" sz="1200" i="1" dirty="0"/>
              <a:t>BMJ Evidence-</a:t>
            </a:r>
            <a:r>
              <a:rPr lang="da-DK" sz="1200" i="1" dirty="0" err="1"/>
              <a:t>Based</a:t>
            </a:r>
            <a:r>
              <a:rPr lang="da-DK" sz="1200" i="1" dirty="0"/>
              <a:t> </a:t>
            </a:r>
            <a:r>
              <a:rPr lang="da-DK" sz="1200" i="1" dirty="0" err="1"/>
              <a:t>Medicine</a:t>
            </a:r>
            <a:r>
              <a:rPr lang="da-DK" sz="1200" dirty="0"/>
              <a:t>, </a:t>
            </a:r>
            <a:r>
              <a:rPr lang="da-DK" sz="1200" i="1" dirty="0"/>
              <a:t>29</a:t>
            </a:r>
            <a:r>
              <a:rPr lang="da-DK" sz="1200" dirty="0"/>
              <a:t>(1), 69 LP – 70. https://doi.org/10.1136/bmjebm-2023-112678</a:t>
            </a:r>
            <a:endParaRPr lang="en-US" sz="1200" dirty="0"/>
          </a:p>
          <a:p>
            <a:r>
              <a:rPr lang="da-DK" sz="1200" dirty="0"/>
              <a:t>Guo, E., </a:t>
            </a:r>
            <a:r>
              <a:rPr lang="da-DK" sz="1200" dirty="0" err="1"/>
              <a:t>Gupta</a:t>
            </a:r>
            <a:r>
              <a:rPr lang="da-DK" sz="1200" dirty="0"/>
              <a:t>, M., Deng, J., Park, Y.-J., </a:t>
            </a:r>
            <a:r>
              <a:rPr lang="da-DK" sz="1200" dirty="0" err="1"/>
              <a:t>Paget</a:t>
            </a:r>
            <a:r>
              <a:rPr lang="da-DK" sz="1200" dirty="0"/>
              <a:t>, M., &amp; </a:t>
            </a:r>
            <a:r>
              <a:rPr lang="da-DK" sz="1200" dirty="0" err="1"/>
              <a:t>Naugler</a:t>
            </a:r>
            <a:r>
              <a:rPr lang="da-DK" sz="1200" dirty="0"/>
              <a:t>, C. (2024). Automated </a:t>
            </a:r>
            <a:r>
              <a:rPr lang="da-DK" sz="1200" dirty="0" err="1"/>
              <a:t>paper</a:t>
            </a:r>
            <a:r>
              <a:rPr lang="da-DK" sz="1200" dirty="0"/>
              <a:t> screening for </a:t>
            </a:r>
            <a:r>
              <a:rPr lang="da-DK" sz="1200" dirty="0" err="1"/>
              <a:t>clinical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 </a:t>
            </a:r>
            <a:r>
              <a:rPr lang="da-DK" sz="1200" dirty="0" err="1"/>
              <a:t>using</a:t>
            </a:r>
            <a:r>
              <a:rPr lang="da-DK" sz="1200" dirty="0"/>
              <a:t> large </a:t>
            </a:r>
            <a:r>
              <a:rPr lang="da-DK" sz="1200" dirty="0" err="1"/>
              <a:t>language</a:t>
            </a:r>
            <a:r>
              <a:rPr lang="da-DK" sz="1200" dirty="0"/>
              <a:t> models: Data </a:t>
            </a:r>
            <a:r>
              <a:rPr lang="da-DK" sz="1200" dirty="0" err="1"/>
              <a:t>analysis</a:t>
            </a:r>
            <a:r>
              <a:rPr lang="da-DK" sz="1200" dirty="0"/>
              <a:t> </a:t>
            </a:r>
            <a:r>
              <a:rPr lang="da-DK" sz="1200" dirty="0" err="1"/>
              <a:t>study</a:t>
            </a:r>
            <a:r>
              <a:rPr lang="da-DK" sz="1200" dirty="0"/>
              <a:t>. </a:t>
            </a:r>
            <a:r>
              <a:rPr lang="da-DK" sz="1200" i="1" dirty="0"/>
              <a:t>J Med Internet Res</a:t>
            </a:r>
            <a:r>
              <a:rPr lang="da-DK" sz="1200" dirty="0"/>
              <a:t>, </a:t>
            </a:r>
            <a:r>
              <a:rPr lang="da-DK" sz="1200" i="1" dirty="0"/>
              <a:t>26</a:t>
            </a:r>
            <a:r>
              <a:rPr lang="da-DK" sz="1200" dirty="0"/>
              <a:t>, e48996. https://doi.org/10.2196/48996</a:t>
            </a:r>
            <a:endParaRPr lang="en-US" sz="1200" dirty="0"/>
          </a:p>
          <a:p>
            <a:r>
              <a:rPr lang="da-DK" sz="1200" dirty="0" err="1"/>
              <a:t>Issaiy</a:t>
            </a:r>
            <a:r>
              <a:rPr lang="da-DK" sz="1200" dirty="0"/>
              <a:t>, M., </a:t>
            </a:r>
            <a:r>
              <a:rPr lang="da-DK" sz="1200" dirty="0" err="1"/>
              <a:t>Ghanaati</a:t>
            </a:r>
            <a:r>
              <a:rPr lang="da-DK" sz="1200" dirty="0"/>
              <a:t>, H., </a:t>
            </a:r>
            <a:r>
              <a:rPr lang="da-DK" sz="1200" dirty="0" err="1"/>
              <a:t>Kolahi</a:t>
            </a:r>
            <a:r>
              <a:rPr lang="da-DK" sz="1200" dirty="0"/>
              <a:t>, S., </a:t>
            </a:r>
            <a:r>
              <a:rPr lang="da-DK" sz="1200" dirty="0" err="1"/>
              <a:t>Shakiba</a:t>
            </a:r>
            <a:r>
              <a:rPr lang="da-DK" sz="1200" dirty="0"/>
              <a:t>, M., </a:t>
            </a:r>
            <a:r>
              <a:rPr lang="da-DK" sz="1200" dirty="0" err="1"/>
              <a:t>Jalali</a:t>
            </a:r>
            <a:r>
              <a:rPr lang="da-DK" sz="1200" dirty="0"/>
              <a:t>, A. H., </a:t>
            </a:r>
            <a:r>
              <a:rPr lang="da-DK" sz="1200" dirty="0" err="1"/>
              <a:t>Zarei</a:t>
            </a:r>
            <a:r>
              <a:rPr lang="da-DK" sz="1200" dirty="0"/>
              <a:t>, D., </a:t>
            </a:r>
            <a:r>
              <a:rPr lang="da-DK" sz="1200" dirty="0" err="1"/>
              <a:t>Kazemian</a:t>
            </a:r>
            <a:r>
              <a:rPr lang="da-DK" sz="1200" dirty="0"/>
              <a:t>, S., </a:t>
            </a:r>
            <a:r>
              <a:rPr lang="da-DK" sz="1200" dirty="0" err="1"/>
              <a:t>Avanaki</a:t>
            </a:r>
            <a:r>
              <a:rPr lang="da-DK" sz="1200" dirty="0"/>
              <a:t>, M. A., &amp; </a:t>
            </a:r>
            <a:r>
              <a:rPr lang="da-DK" sz="1200" dirty="0" err="1"/>
              <a:t>Firouznia</a:t>
            </a:r>
            <a:r>
              <a:rPr lang="da-DK" sz="1200" dirty="0"/>
              <a:t>, K. (2024). </a:t>
            </a:r>
            <a:r>
              <a:rPr lang="da-DK" sz="1200" dirty="0" err="1"/>
              <a:t>Methodological</a:t>
            </a:r>
            <a:r>
              <a:rPr lang="da-DK" sz="1200" dirty="0"/>
              <a:t> </a:t>
            </a:r>
            <a:r>
              <a:rPr lang="da-DK" sz="1200" dirty="0" err="1"/>
              <a:t>insights</a:t>
            </a:r>
            <a:r>
              <a:rPr lang="da-DK" sz="1200" dirty="0"/>
              <a:t> </a:t>
            </a:r>
            <a:r>
              <a:rPr lang="da-DK" sz="1200" dirty="0" err="1"/>
              <a:t>into</a:t>
            </a:r>
            <a:r>
              <a:rPr lang="da-DK" sz="1200" dirty="0"/>
              <a:t> </a:t>
            </a:r>
            <a:r>
              <a:rPr lang="da-DK" sz="1200" dirty="0" err="1"/>
              <a:t>ChatGPT’s</a:t>
            </a:r>
            <a:r>
              <a:rPr lang="da-DK" sz="1200" dirty="0"/>
              <a:t> screening performance in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. </a:t>
            </a:r>
            <a:r>
              <a:rPr lang="da-DK" sz="1200" i="1" dirty="0"/>
              <a:t>BMC Medical Research </a:t>
            </a:r>
            <a:r>
              <a:rPr lang="da-DK" sz="1200" i="1" dirty="0" err="1"/>
              <a:t>Methodology</a:t>
            </a:r>
            <a:r>
              <a:rPr lang="da-DK" sz="1200" dirty="0"/>
              <a:t>, </a:t>
            </a:r>
            <a:r>
              <a:rPr lang="da-DK" sz="1200" i="1" dirty="0"/>
              <a:t>24</a:t>
            </a:r>
            <a:r>
              <a:rPr lang="da-DK" sz="1200" dirty="0"/>
              <a:t>(1), 78. https://doi.org/10.1186/s12874-024-02203-8</a:t>
            </a:r>
            <a:endParaRPr lang="en-US" sz="1200" dirty="0"/>
          </a:p>
          <a:p>
            <a:r>
              <a:rPr lang="da-DK" sz="1200" dirty="0" err="1"/>
              <a:t>Khraisha</a:t>
            </a:r>
            <a:r>
              <a:rPr lang="da-DK" sz="1200" dirty="0"/>
              <a:t>, Q., Put, S., </a:t>
            </a:r>
            <a:r>
              <a:rPr lang="da-DK" sz="1200" dirty="0" err="1"/>
              <a:t>Kappenberg</a:t>
            </a:r>
            <a:r>
              <a:rPr lang="da-DK" sz="1200" dirty="0"/>
              <a:t>, J., </a:t>
            </a:r>
            <a:r>
              <a:rPr lang="da-DK" sz="1200" dirty="0" err="1"/>
              <a:t>Warraitch</a:t>
            </a:r>
            <a:r>
              <a:rPr lang="da-DK" sz="1200" dirty="0"/>
              <a:t>, A., &amp; </a:t>
            </a:r>
            <a:r>
              <a:rPr lang="da-DK" sz="1200" dirty="0" err="1"/>
              <a:t>Hadfield</a:t>
            </a:r>
            <a:r>
              <a:rPr lang="da-DK" sz="1200" dirty="0"/>
              <a:t>, K. (2024). Can large </a:t>
            </a:r>
            <a:r>
              <a:rPr lang="da-DK" sz="1200" dirty="0" err="1"/>
              <a:t>language</a:t>
            </a:r>
            <a:r>
              <a:rPr lang="da-DK" sz="1200" dirty="0"/>
              <a:t> models </a:t>
            </a:r>
            <a:r>
              <a:rPr lang="da-DK" sz="1200" dirty="0" err="1"/>
              <a:t>replace</a:t>
            </a:r>
            <a:r>
              <a:rPr lang="da-DK" sz="1200" dirty="0"/>
              <a:t> </a:t>
            </a:r>
            <a:r>
              <a:rPr lang="da-DK" sz="1200" dirty="0" err="1"/>
              <a:t>humans</a:t>
            </a:r>
            <a:r>
              <a:rPr lang="da-DK" sz="1200" dirty="0"/>
              <a:t> in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? </a:t>
            </a:r>
            <a:r>
              <a:rPr lang="da-DK" sz="1200" dirty="0" err="1"/>
              <a:t>Evaluating</a:t>
            </a:r>
            <a:r>
              <a:rPr lang="da-DK" sz="1200" dirty="0"/>
              <a:t> GPT-4’s </a:t>
            </a:r>
            <a:r>
              <a:rPr lang="da-DK" sz="1200" dirty="0" err="1"/>
              <a:t>efficacy</a:t>
            </a:r>
            <a:r>
              <a:rPr lang="da-DK" sz="1200" dirty="0"/>
              <a:t> in screening and </a:t>
            </a:r>
            <a:r>
              <a:rPr lang="da-DK" sz="1200" dirty="0" err="1"/>
              <a:t>extracting</a:t>
            </a:r>
            <a:r>
              <a:rPr lang="da-DK" sz="1200" dirty="0"/>
              <a:t> data from peer-</a:t>
            </a:r>
            <a:r>
              <a:rPr lang="da-DK" sz="1200" dirty="0" err="1"/>
              <a:t>reviewed</a:t>
            </a:r>
            <a:r>
              <a:rPr lang="da-DK" sz="1200" dirty="0"/>
              <a:t> and </a:t>
            </a:r>
            <a:r>
              <a:rPr lang="da-DK" sz="1200" dirty="0" err="1"/>
              <a:t>grey</a:t>
            </a:r>
            <a:r>
              <a:rPr lang="da-DK" sz="1200" dirty="0"/>
              <a:t> </a:t>
            </a:r>
            <a:r>
              <a:rPr lang="da-DK" sz="1200" dirty="0" err="1"/>
              <a:t>literature</a:t>
            </a:r>
            <a:r>
              <a:rPr lang="da-DK" sz="1200" dirty="0"/>
              <a:t> in multiple </a:t>
            </a:r>
            <a:r>
              <a:rPr lang="da-DK" sz="1200" dirty="0" err="1"/>
              <a:t>languages</a:t>
            </a:r>
            <a:r>
              <a:rPr lang="da-DK" sz="1200" dirty="0"/>
              <a:t>. </a:t>
            </a:r>
            <a:r>
              <a:rPr lang="da-DK" sz="1200" i="1" dirty="0"/>
              <a:t>Research Synthesis Methods</a:t>
            </a:r>
            <a:r>
              <a:rPr lang="da-DK" sz="1200" dirty="0"/>
              <a:t>. https://doi.org/10.1002/jrsm.1715</a:t>
            </a:r>
            <a:endParaRPr lang="en-US" sz="1200" dirty="0"/>
          </a:p>
          <a:p>
            <a:r>
              <a:rPr lang="da-DK" sz="1200" dirty="0" err="1"/>
              <a:t>Syriani</a:t>
            </a:r>
            <a:r>
              <a:rPr lang="da-DK" sz="1200" dirty="0"/>
              <a:t>, E., David, I., &amp; Kumar, G. (2024). Screening </a:t>
            </a:r>
            <a:r>
              <a:rPr lang="da-DK" sz="1200" dirty="0" err="1"/>
              <a:t>articles</a:t>
            </a:r>
            <a:r>
              <a:rPr lang="da-DK" sz="1200" dirty="0"/>
              <a:t> for </a:t>
            </a:r>
            <a:r>
              <a:rPr lang="da-DK" sz="1200" dirty="0" err="1"/>
              <a:t>systematic</a:t>
            </a:r>
            <a:r>
              <a:rPr lang="da-DK" sz="1200" dirty="0"/>
              <a:t> </a:t>
            </a:r>
            <a:r>
              <a:rPr lang="da-DK" sz="1200" dirty="0" err="1"/>
              <a:t>reviews</a:t>
            </a:r>
            <a:r>
              <a:rPr lang="da-DK" sz="1200" dirty="0"/>
              <a:t> with ChatGPT. </a:t>
            </a:r>
            <a:r>
              <a:rPr lang="da-DK" sz="1200" i="1" dirty="0"/>
              <a:t>Journal of Computer Languages</a:t>
            </a:r>
            <a:r>
              <a:rPr lang="da-DK" sz="1200" dirty="0"/>
              <a:t>, </a:t>
            </a:r>
            <a:r>
              <a:rPr lang="da-DK" sz="1200" i="1" dirty="0"/>
              <a:t>80</a:t>
            </a:r>
            <a:r>
              <a:rPr lang="da-DK" sz="1200" dirty="0"/>
              <a:t>, 101287. https://doi.org/10.1016/j.cola.2024.101287</a:t>
            </a:r>
            <a:endParaRPr lang="en-US" sz="1200" dirty="0"/>
          </a:p>
          <a:p>
            <a:r>
              <a:rPr lang="da-DK" sz="1200" dirty="0" err="1"/>
              <a:t>Tomlinson</a:t>
            </a:r>
            <a:r>
              <a:rPr lang="da-DK" sz="1200" dirty="0"/>
              <a:t>, B., Black, R. W., Patterson, D. J., &amp; </a:t>
            </a:r>
            <a:r>
              <a:rPr lang="da-DK" sz="1200" dirty="0" err="1"/>
              <a:t>Torrance</a:t>
            </a:r>
            <a:r>
              <a:rPr lang="da-DK" sz="1200" dirty="0"/>
              <a:t>, A. W. (2024). The </a:t>
            </a:r>
            <a:r>
              <a:rPr lang="da-DK" sz="1200" dirty="0" err="1"/>
              <a:t>carbon</a:t>
            </a:r>
            <a:r>
              <a:rPr lang="da-DK" sz="1200" dirty="0"/>
              <a:t> emissions of </a:t>
            </a:r>
            <a:r>
              <a:rPr lang="da-DK" sz="1200" dirty="0" err="1"/>
              <a:t>writing</a:t>
            </a:r>
            <a:r>
              <a:rPr lang="da-DK" sz="1200" dirty="0"/>
              <a:t> and </a:t>
            </a:r>
            <a:r>
              <a:rPr lang="da-DK" sz="1200" dirty="0" err="1"/>
              <a:t>illustrating</a:t>
            </a:r>
            <a:r>
              <a:rPr lang="da-DK" sz="1200" dirty="0"/>
              <a:t> </a:t>
            </a:r>
            <a:r>
              <a:rPr lang="da-DK" sz="1200" dirty="0" err="1"/>
              <a:t>are</a:t>
            </a:r>
            <a:r>
              <a:rPr lang="da-DK" sz="1200" dirty="0"/>
              <a:t> </a:t>
            </a:r>
            <a:r>
              <a:rPr lang="da-DK" sz="1200" dirty="0" err="1"/>
              <a:t>lower</a:t>
            </a:r>
            <a:r>
              <a:rPr lang="da-DK" sz="1200" dirty="0"/>
              <a:t> for AI </a:t>
            </a:r>
            <a:r>
              <a:rPr lang="da-DK" sz="1200" dirty="0" err="1"/>
              <a:t>than</a:t>
            </a:r>
            <a:r>
              <a:rPr lang="da-DK" sz="1200" dirty="0"/>
              <a:t> for </a:t>
            </a:r>
            <a:r>
              <a:rPr lang="da-DK" sz="1200" dirty="0" err="1"/>
              <a:t>humans</a:t>
            </a:r>
            <a:r>
              <a:rPr lang="da-DK" sz="1200" dirty="0"/>
              <a:t>. </a:t>
            </a:r>
            <a:r>
              <a:rPr lang="da-DK" sz="1200" i="1" dirty="0"/>
              <a:t>Scientific Reports</a:t>
            </a:r>
            <a:r>
              <a:rPr lang="da-DK" sz="1200" dirty="0"/>
              <a:t>, </a:t>
            </a:r>
            <a:r>
              <a:rPr lang="da-DK" sz="1200" i="1" dirty="0"/>
              <a:t>14</a:t>
            </a:r>
            <a:r>
              <a:rPr lang="da-DK" sz="1200" dirty="0"/>
              <a:t>(1), 3732. </a:t>
            </a:r>
            <a:r>
              <a:rPr lang="da-DK" sz="1200" dirty="0">
                <a:hlinkClick r:id="rId3"/>
              </a:rPr>
              <a:t>https://doi.org/10.1038/s41598-024-54271-x</a:t>
            </a:r>
            <a:endParaRPr lang="da-DK" sz="1200" dirty="0"/>
          </a:p>
          <a:p>
            <a:r>
              <a:rPr lang="da-DK" sz="1200" dirty="0"/>
              <a:t>Vembye, M. H. &amp; Olsen, T. (2026). </a:t>
            </a:r>
            <a:r>
              <a:rPr lang="da-DK" sz="1200" i="1" dirty="0"/>
              <a:t>AIscreenR: AI screening </a:t>
            </a:r>
            <a:r>
              <a:rPr lang="da-DK" sz="1200" i="1" dirty="0" err="1"/>
              <a:t>tools</a:t>
            </a:r>
            <a:r>
              <a:rPr lang="da-DK" sz="1200" i="1" dirty="0"/>
              <a:t> for </a:t>
            </a:r>
            <a:r>
              <a:rPr lang="da-DK" sz="1200" i="1" dirty="0" err="1"/>
              <a:t>systematic</a:t>
            </a:r>
            <a:r>
              <a:rPr lang="da-DK" sz="1200" i="1" dirty="0"/>
              <a:t> </a:t>
            </a:r>
            <a:r>
              <a:rPr lang="da-DK" sz="1200" i="1" dirty="0" err="1"/>
              <a:t>reviews</a:t>
            </a:r>
            <a:r>
              <a:rPr lang="da-DK" sz="1200" i="1" dirty="0"/>
              <a:t>.</a:t>
            </a:r>
            <a:r>
              <a:rPr lang="da-DK" sz="1200" dirty="0"/>
              <a:t> (0.3.2). CRAN. https://doi.org/10.32614/CRAN.package.AIscreenR</a:t>
            </a:r>
            <a:endParaRPr lang="en-US" sz="1200" dirty="0"/>
          </a:p>
          <a:p>
            <a:pPr algn="l"/>
            <a:r>
              <a:rPr lang="da-DK" sz="1200" dirty="0"/>
              <a:t>Vembye, M. H., Christensen, J., Mølgaard, A. B., &amp; Schytt, F. L. W. (2025). </a:t>
            </a:r>
            <a:r>
              <a:rPr lang="en-US" sz="1200" i="0" u="none" strike="noStrike" dirty="0">
                <a:effectLst/>
              </a:rPr>
              <a:t>Generative Pretrained Transformer Models Can Function as Highly Reliable Second Screeners of Titles and Abstracts in Systematic Reviews: A Proof of Concept and Common Guidelines</a:t>
            </a:r>
            <a:r>
              <a:rPr lang="da-DK" sz="1200" dirty="0"/>
              <a:t>. </a:t>
            </a:r>
            <a:r>
              <a:rPr lang="da-DK" sz="1200" i="1" dirty="0"/>
              <a:t>Psychological Methods</a:t>
            </a:r>
            <a:r>
              <a:rPr lang="da-DK" sz="1200" dirty="0"/>
              <a:t>. </a:t>
            </a:r>
            <a:r>
              <a:rPr lang="en-US" sz="1200" b="0" i="0" dirty="0">
                <a:solidFill>
                  <a:srgbClr val="212529"/>
                </a:solidFill>
                <a:effectLst/>
                <a:latin typeface="Arial" panose="020B0604020202020204" pitchFamily="34" charset="0"/>
              </a:rPr>
              <a:t>https://doi.org/10.1037/met0000769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232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50FF-35AB-4945-A707-FBAE8A8C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Appendix</a:t>
            </a:r>
            <a:r>
              <a:rPr lang="da-DK" dirty="0"/>
              <a:t> 1 - </a:t>
            </a:r>
            <a:r>
              <a:rPr lang="da-DK" dirty="0" err="1"/>
              <a:t>Assessment</a:t>
            </a:r>
            <a:r>
              <a:rPr lang="da-DK" dirty="0"/>
              <a:t> Measures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EC9293C7-11EF-42A7-A1C1-94AC9CE754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3520" y="2064960"/>
                <a:ext cx="10596278" cy="37801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vert="horz" lIns="0" tIns="0" rIns="0" bIns="0" rtlCol="0" anchor="t">
                <a:noAutofit/>
              </a:bodyPr>
              <a:lstStyle>
                <a:lvl1pPr marL="2857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32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207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382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5750" indent="-28575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Clr>
                    <a:schemeClr val="bg1"/>
                  </a:buClr>
                  <a:buSzPct val="110000"/>
                  <a:buFontTx/>
                  <a:buBlip>
                    <a:blip r:embed="rId2"/>
                  </a:buBlip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a-DK" sz="1200" i="1" dirty="0"/>
                  <a:t>Recall</a:t>
                </a:r>
                <a:r>
                  <a:rPr lang="da-DK" sz="1200" dirty="0"/>
                  <a:t> is </a:t>
                </a:r>
                <a:r>
                  <a:rPr lang="en-US" sz="1200" dirty="0"/>
                  <a:t>the proportion of relevant records being correctly classified as relevant, given by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𝑡𝑟𝑢𝑒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𝑝𝑜𝑠𝑖𝑡𝑖𝑣𝑒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d>
                            <m:dPr>
                              <m:begChr m:val="{"/>
                              <m:endChr m:val="}"/>
                              <m:ctrlP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𝑝𝑜𝑠𝑖𝑡𝑖𝑣𝑒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𝑛𝑒𝑔𝑎𝑡𝑖𝑣𝑒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da-DK" sz="12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200" i="1" dirty="0"/>
              </a:p>
              <a:p>
                <a:pPr marL="0" indent="0">
                  <a:buNone/>
                </a:pPr>
                <a:r>
                  <a:rPr lang="en-US" sz="1200" i="1" dirty="0"/>
                  <a:t>Specificity</a:t>
                </a:r>
                <a:r>
                  <a:rPr lang="en-US" sz="1200" dirty="0"/>
                  <a:t> is the proportion of irrelevant records being correctly classified as irrelevant, given by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𝑆𝑝𝑒𝑐𝑖𝑓𝑖𝑐𝑖𝑡𝑦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𝑡𝑟𝑢𝑒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𝑛𝑒𝑔𝑎𝑡𝑖𝑣𝑒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d>
                            <m:dPr>
                              <m:begChr m:val="{"/>
                              <m:endChr m:val="}"/>
                              <m:ctrlP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𝑛𝑒𝑔𝑎𝑡𝑖𝑣𝑒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𝑓𝑎𝑙𝑠𝑒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𝑝𝑜𝑠𝑖𝑡𝑖𝑣𝑒</m:t>
                          </m:r>
                          <m:r>
                            <a:rPr lang="da-DK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da-DK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a-DK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a-DK" sz="1400" dirty="0"/>
                  <a:t> </a:t>
                </a:r>
                <a:endParaRPr lang="en-US" sz="1400" dirty="0"/>
              </a:p>
            </p:txBody>
          </p:sp>
        </mc:Choice>
        <mc:Fallback xmlns="">
          <p:sp>
            <p:nvSpPr>
              <p:cNvPr id="5" name="Text Placeholder 2">
                <a:extLst>
                  <a:ext uri="{FF2B5EF4-FFF2-40B4-BE49-F238E27FC236}">
                    <a16:creationId xmlns:a16="http://schemas.microsoft.com/office/drawing/2014/main" id="{EC9293C7-11EF-42A7-A1C1-94AC9CE7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520" y="2064960"/>
                <a:ext cx="10596278" cy="3780116"/>
              </a:xfrm>
              <a:prstGeom prst="rect">
                <a:avLst/>
              </a:prstGeom>
              <a:blipFill>
                <a:blip r:embed="rId3"/>
                <a:stretch>
                  <a:fillRect l="-863" t="-1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196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2040-6A6B-4A8B-A38D-DEFCB223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396474"/>
            <a:ext cx="10158611" cy="891382"/>
          </a:xfrm>
        </p:spPr>
        <p:txBody>
          <a:bodyPr/>
          <a:lstStyle/>
          <a:p>
            <a:r>
              <a:rPr lang="en-US" dirty="0"/>
              <a:t>Appendix 2 – Numerical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8A890-C23C-4C77-85A6-A0006E608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657" y="1616629"/>
            <a:ext cx="6228271" cy="441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5033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43182-8593-4315-9CAE-B03544C3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20" y="468393"/>
            <a:ext cx="10158611" cy="891382"/>
          </a:xfrm>
        </p:spPr>
        <p:txBody>
          <a:bodyPr/>
          <a:lstStyle/>
          <a:p>
            <a:r>
              <a:rPr lang="en-US" dirty="0"/>
              <a:t>Appendix 3: What we also do: further standardization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81A5F-3305-475A-BA9B-0EB3B8B7E0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3520" y="1931992"/>
            <a:ext cx="10359972" cy="4485301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i="1" dirty="0"/>
              <a:t>Common guidelines</a:t>
            </a:r>
            <a:r>
              <a:rPr lang="en-US" dirty="0"/>
              <a:t> </a:t>
            </a:r>
            <a:r>
              <a:rPr lang="da-DK" dirty="0"/>
              <a:t>for </a:t>
            </a:r>
            <a:r>
              <a:rPr lang="en-US" dirty="0"/>
              <a:t>when it is (and when it is not) appropriate to use GPT API models for title and abstract screening in high-quality reviews. These guidelines are primarily based on the benchmark scheme</a:t>
            </a:r>
            <a:r>
              <a:rPr lang="da-DK" dirty="0"/>
              <a:t>.</a:t>
            </a:r>
          </a:p>
          <a:p>
            <a:pPr>
              <a:spcBef>
                <a:spcPts val="0"/>
              </a:spcBef>
            </a:pPr>
            <a:r>
              <a:rPr lang="en-US" i="1" dirty="0"/>
              <a:t>A workflow for how to configure a reliable screening</a:t>
            </a:r>
            <a:r>
              <a:rPr lang="en-US" dirty="0"/>
              <a:t>, including how to test and develop prompts. Hereto we introduce multiple-prompt screening, i.e., making one prompt per inclusion criteria. 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According to Campbell Collaboration (2023) using AI in high-quality reviews requires: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(a) functioning tech </a:t>
            </a:r>
            <a:r>
              <a:rPr lang="en-US" b="1" dirty="0"/>
              <a:t>[Outside our control]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(b) proof that it is functioning appropriately: </a:t>
            </a:r>
            <a:r>
              <a:rPr lang="en-US" b="1" dirty="0"/>
              <a:t>[Our answer: Experiment results]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(c) the tech embodied in usable products: </a:t>
            </a:r>
            <a:r>
              <a:rPr lang="en-US" b="1" dirty="0"/>
              <a:t>[Our answer: AIscreenR]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(d) agreed guidelines for appropriate use </a:t>
            </a:r>
            <a:r>
              <a:rPr lang="en-US" b="1" dirty="0"/>
              <a:t>[Our answer: The use of benchmark schemes]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(e) training </a:t>
            </a:r>
            <a:r>
              <a:rPr lang="en-US" b="1" dirty="0"/>
              <a:t>[Our answer: Assess the use with test data: Alternatively use fine-tuning]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(f) ongoing support </a:t>
            </a:r>
            <a:r>
              <a:rPr lang="en-US" b="1" dirty="0"/>
              <a:t>[Our answer: Provide AIscreenR as an open-source software] </a:t>
            </a:r>
          </a:p>
          <a:p>
            <a:pPr marL="0" indent="0">
              <a:spcBef>
                <a:spcPts val="0"/>
              </a:spcBef>
              <a:buNone/>
            </a:pPr>
            <a:endParaRPr lang="da-DK" b="1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In our paper, we strive to accommodate requirements b to f. </a:t>
            </a:r>
          </a:p>
        </p:txBody>
      </p:sp>
    </p:spTree>
    <p:extLst>
      <p:ext uri="{BB962C8B-B14F-4D97-AF65-F5344CB8AC3E}">
        <p14:creationId xmlns:p14="http://schemas.microsoft.com/office/powerpoint/2010/main" val="2089828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396E2-9EBF-4B0D-B303-A2BEDAEF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4: Other possibilities with AIscreenR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A750B-9D57-4767-886D-ACA18619E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Can be combined with other (semi) automated screening tools such as priority and classifier screening. </a:t>
            </a:r>
          </a:p>
          <a:p>
            <a:pPr marL="0" indent="0">
              <a:buNone/>
            </a:pPr>
            <a:endParaRPr lang="en-US" dirty="0"/>
          </a:p>
          <a:p>
            <a:r>
              <a:rPr lang="da-DK" dirty="0"/>
              <a:t>U</a:t>
            </a:r>
            <a:r>
              <a:rPr lang="en-US" dirty="0"/>
              <a:t>sed to reduce the number of studies needed to be humanly double screened. This can be done by making too over-inclusive prompt on purpose. </a:t>
            </a:r>
          </a:p>
          <a:p>
            <a:endParaRPr lang="da-DK" dirty="0"/>
          </a:p>
          <a:p>
            <a:r>
              <a:rPr lang="en-US" dirty="0"/>
              <a:t>Can be fine tuned to the specific review</a:t>
            </a:r>
            <a:r>
              <a:rPr lang="da-DK" dirty="0"/>
              <a:t> </a:t>
            </a:r>
            <a:r>
              <a:rPr lang="da-DK" dirty="0" err="1"/>
              <a:t>context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587923"/>
      </p:ext>
    </p:extLst>
  </p:cSld>
  <p:clrMapOvr>
    <a:masterClrMapping/>
  </p:clrMapOvr>
</p:sld>
</file>

<file path=ppt/theme/theme1.xml><?xml version="1.0" encoding="utf-8"?>
<a:theme xmlns:a="http://schemas.openxmlformats.org/drawingml/2006/main" name="VIVE">
  <a:themeElements>
    <a:clrScheme name="VIVE rapport">
      <a:dk1>
        <a:sysClr val="windowText" lastClr="000000"/>
      </a:dk1>
      <a:lt1>
        <a:sysClr val="window" lastClr="FFFFFF"/>
      </a:lt1>
      <a:dk2>
        <a:srgbClr val="F3AE06"/>
      </a:dk2>
      <a:lt2>
        <a:srgbClr val="6E6E6E"/>
      </a:lt2>
      <a:accent1>
        <a:srgbClr val="BF1D30"/>
      </a:accent1>
      <a:accent2>
        <a:srgbClr val="E7A6AB"/>
      </a:accent2>
      <a:accent3>
        <a:srgbClr val="004F9B"/>
      </a:accent3>
      <a:accent4>
        <a:srgbClr val="4780B2"/>
      </a:accent4>
      <a:accent5>
        <a:srgbClr val="F6935B"/>
      </a:accent5>
      <a:accent6>
        <a:srgbClr val="9B9C4D"/>
      </a:accent6>
      <a:hlink>
        <a:srgbClr val="000000"/>
      </a:hlink>
      <a:folHlink>
        <a:srgbClr val="000000"/>
      </a:folHlink>
    </a:clrScheme>
    <a:fontScheme name="VIVE PowerPoint">
      <a:majorFont>
        <a:latin typeface="Arial"/>
        <a:ea typeface="Inter"/>
        <a:cs typeface="Inter"/>
      </a:majorFont>
      <a:minorFont>
        <a:latin typeface="Arial"/>
        <a:ea typeface="Inter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reen-with-gpt-models.potx" id="{5A7CAA83-19FB-426C-A4BE-B6571C13A835}" vid="{E77CEF2F-9B07-4474-B6E7-93B55C4A9CB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screen-with-gpt-models</Template>
  <TotalTime>912</TotalTime>
  <Words>2336</Words>
  <Application>Microsoft Office PowerPoint</Application>
  <PresentationFormat>Widescreen</PresentationFormat>
  <Paragraphs>166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AdvOTf9433e2d</vt:lpstr>
      <vt:lpstr>Arial</vt:lpstr>
      <vt:lpstr>Calibri</vt:lpstr>
      <vt:lpstr>Cambria</vt:lpstr>
      <vt:lpstr>Cambria Math</vt:lpstr>
      <vt:lpstr>Inter</vt:lpstr>
      <vt:lpstr>Wingdings</vt:lpstr>
      <vt:lpstr>VIVE</vt:lpstr>
      <vt:lpstr>How to Use Generative Pretrained Transformer (GPT)  Models as Reliable Second Screeners of Titles and Abstracts in High-Quality Systematic Reviews [workshop]</vt:lpstr>
      <vt:lpstr>Workshop Objectives</vt:lpstr>
      <vt:lpstr>Why Use AI for Screening in Systematic Reviews?</vt:lpstr>
      <vt:lpstr>What we have tested and developed</vt:lpstr>
      <vt:lpstr>Why use GPT API models and not just ChatGPT?</vt:lpstr>
      <vt:lpstr>Precondition for assessing AI screening</vt:lpstr>
      <vt:lpstr>Precondition for assessing AI screening cont.</vt:lpstr>
      <vt:lpstr>Quality assessment via benchmarking</vt:lpstr>
      <vt:lpstr>Why we consider benchmarking all-important</vt:lpstr>
      <vt:lpstr>How generalizable is this approach?</vt:lpstr>
      <vt:lpstr>PowerPoint Presentation</vt:lpstr>
      <vt:lpstr>Future research</vt:lpstr>
      <vt:lpstr>Future perspectives – the future is AI!</vt:lpstr>
      <vt:lpstr>AIscreenR Demo</vt:lpstr>
      <vt:lpstr>References</vt:lpstr>
      <vt:lpstr>Appendix 1 - Assessment Measures</vt:lpstr>
      <vt:lpstr>Appendix 2 – Numerical results</vt:lpstr>
      <vt:lpstr>Appendix 3: What we also do: further standardization</vt:lpstr>
      <vt:lpstr>Appendix 4: Other possibilities with AIscreenR</vt:lpstr>
    </vt:vector>
  </TitlesOfParts>
  <Company>Statens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Mikkel Helding Vembye</dc:creator>
  <dc:description>Skabelon udarbejdet af Word Specialisten v/Helle M. Nielsen</dc:description>
  <cp:lastModifiedBy>Mikkel Helding Vembye</cp:lastModifiedBy>
  <cp:revision>14</cp:revision>
  <dcterms:created xsi:type="dcterms:W3CDTF">2026-04-15T14:24:37Z</dcterms:created>
  <dcterms:modified xsi:type="dcterms:W3CDTF">2026-04-21T09:13:07Z</dcterms:modified>
</cp:coreProperties>
</file>