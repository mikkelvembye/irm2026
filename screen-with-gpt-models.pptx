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0"/>
  </p:notesMasterIdLst>
  <p:sldIdLst>
    <p:sldId id="509" r:id="rId2"/>
    <p:sldId id="524" r:id="rId3"/>
    <p:sldId id="541" r:id="rId4"/>
    <p:sldId id="542" r:id="rId5"/>
    <p:sldId id="559" r:id="rId6"/>
    <p:sldId id="560" r:id="rId7"/>
    <p:sldId id="561" r:id="rId8"/>
    <p:sldId id="546" r:id="rId9"/>
    <p:sldId id="547" r:id="rId10"/>
    <p:sldId id="549" r:id="rId11"/>
    <p:sldId id="553" r:id="rId12"/>
    <p:sldId id="554" r:id="rId13"/>
    <p:sldId id="557" r:id="rId14"/>
    <p:sldId id="545" r:id="rId15"/>
    <p:sldId id="544" r:id="rId16"/>
    <p:sldId id="548" r:id="rId17"/>
    <p:sldId id="536" r:id="rId18"/>
    <p:sldId id="555" r:id="rId1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9"/>
            <p14:sldId id="560"/>
            <p14:sldId id="561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3787" autoAdjust="0"/>
  </p:normalViewPr>
  <p:slideViewPr>
    <p:cSldViewPr snapToGrid="0">
      <p:cViewPr>
        <p:scale>
          <a:sx n="80" d="100"/>
          <a:sy n="80" d="100"/>
        </p:scale>
        <p:origin x="98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 expect to give you a 30-minute presentation of the background and screening framework, and then we will spend the last hour on the AIscreenR demonstration.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03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854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9463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230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AI </a:t>
            </a:r>
            <a:r>
              <a:rPr lang="da-DK" dirty="0" err="1"/>
              <a:t>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ikkelVembye/SRMA-SIG-presentation" TargetMode="External"/><Relationship Id="rId4" Type="http://schemas.openxmlformats.org/officeDocument/2006/relationships/hyperlink" Target="https://mikkelvembye.github.io/AIscreenR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psycnet.apa.org/fulltext/2026-37236-001.html" TargetMode="External"/><Relationship Id="rId7" Type="http://schemas.openxmlformats.org/officeDocument/2006/relationships/hyperlink" Target="https://github.com/MikkelVembye/AIscreen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-strategy.ec.europa.eu/en/policies/regulatory-framework-a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/blob/main/Test%20screening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2" y="4198800"/>
            <a:ext cx="5002951" cy="194010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386652" cy="3002303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High-Quality Systematic Reviews [workshop]</a:t>
            </a:r>
            <a:endParaRPr lang="da-DK" sz="2800" dirty="0"/>
          </a:p>
        </p:txBody>
      </p:sp>
      <p:pic>
        <p:nvPicPr>
          <p:cNvPr id="7" name="Picture Placeholder 6" descr="A robot and a hand touching a finger&#10;&#10;AI-generated content may be incorrect.">
            <a:extLst>
              <a:ext uri="{FF2B5EF4-FFF2-40B4-BE49-F238E27FC236}">
                <a16:creationId xmlns:a16="http://schemas.microsoft.com/office/drawing/2014/main" id="{B33B4BC4-34A7-4EB8-34B7-931AA2839A9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2" b="2862"/>
          <a:stretch>
            <a:fillRect/>
          </a:stretch>
        </p:blipFill>
        <p:spPr>
          <a:xfrm>
            <a:off x="5725886" y="0"/>
            <a:ext cx="6466114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AIscreenR.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3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4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95349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 and developed guidelines for how to use them reliably. 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 – let me show you the setup!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  <p:pic>
        <p:nvPicPr>
          <p:cNvPr id="5" name="Picture 4">
            <a:hlinkClick r:id="rId7"/>
            <a:extLst>
              <a:ext uri="{FF2B5EF4-FFF2-40B4-BE49-F238E27FC236}">
                <a16:creationId xmlns:a16="http://schemas.microsoft.com/office/drawing/2014/main" id="{EAC24E43-04B9-8406-94FB-86F04591171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49" y="4029075"/>
            <a:ext cx="4965175" cy="203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465299"/>
            <a:ext cx="10363318" cy="4602126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Overcomes copy–paste procedures; may reduce hallucination risk.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Enables systematic comparison of models and prompts.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Unclear if the ChatGPT setup is agnostic to data imbalance.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Enables the screening of a very large number of references in a short time frame—potentially up to 30,000 records per minute.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Supports multi-prompt and repeated, identical screenings, where the inclusion criteria are defined based on the frequency of selection across runs.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Evidence suggests GPT API models outperform ChatGPT for screening (</a:t>
            </a:r>
            <a:r>
              <a:rPr lang="en-US" sz="1800" dirty="0" err="1"/>
              <a:t>Alshami</a:t>
            </a:r>
            <a:r>
              <a:rPr lang="en-US" sz="1800" dirty="0"/>
              <a:t> et al., 2023; </a:t>
            </a:r>
            <a:r>
              <a:rPr lang="en-US" sz="1800" dirty="0" err="1"/>
              <a:t>Gargari</a:t>
            </a:r>
            <a:r>
              <a:rPr lang="en-US" sz="1800" dirty="0"/>
              <a:t> et al., 2024; Guo et al., 2024; </a:t>
            </a:r>
            <a:r>
              <a:rPr lang="en-US" sz="1800" dirty="0" err="1"/>
              <a:t>Issaiy</a:t>
            </a:r>
            <a:r>
              <a:rPr lang="en-US" sz="1800" dirty="0"/>
              <a:t> et al., 2024; </a:t>
            </a:r>
            <a:r>
              <a:rPr lang="en-US" sz="1800" dirty="0" err="1"/>
              <a:t>Khraisha</a:t>
            </a:r>
            <a:r>
              <a:rPr lang="en-US" sz="1800" dirty="0"/>
              <a:t> et al., 2024; </a:t>
            </a:r>
            <a:r>
              <a:rPr lang="en-US" sz="1800" dirty="0" err="1"/>
              <a:t>Syriani</a:t>
            </a:r>
            <a:r>
              <a:rPr lang="en-US" sz="1800" dirty="0"/>
              <a:t> et al., 2024</a:t>
            </a:r>
            <a:r>
              <a:rPr lang="en-US" dirty="0"/>
              <a:t>)..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Our setup has been scientifically validated.</a:t>
            </a:r>
          </a:p>
        </p:txBody>
      </p:sp>
    </p:spTree>
    <p:extLst>
      <p:ext uri="{BB962C8B-B14F-4D97-AF65-F5344CB8AC3E}">
        <p14:creationId xmlns:p14="http://schemas.microsoft.com/office/powerpoint/2010/main" val="2285551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200" dirty="0"/>
              <a:t>Quality assessing AI screenings</a:t>
            </a:r>
            <a:endParaRPr lang="en-US" sz="33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44685"/>
            <a:ext cx="10654606" cy="1131815"/>
          </a:xfrm>
        </p:spPr>
        <p:txBody>
          <a:bodyPr/>
          <a:lstStyle/>
          <a:p>
            <a:r>
              <a:rPr lang="en-US" dirty="0"/>
              <a:t>A precondition for quality assessing AI screening is to know common human screening behavior</a:t>
            </a:r>
            <a:r>
              <a:rPr lang="da-DK" dirty="0"/>
              <a:t>/performance</a:t>
            </a:r>
          </a:p>
          <a:p>
            <a:r>
              <a:rPr lang="en-US" dirty="0"/>
              <a:t>We find that our assistant/student screeners, on average, have a recall</a:t>
            </a:r>
            <a:r>
              <a:rPr lang="da-DK" dirty="0"/>
              <a:t> = </a:t>
            </a:r>
            <a:r>
              <a:rPr lang="it-IT" sz="1800" b="1" i="0" u="none" strike="noStrike" baseline="0" dirty="0"/>
              <a:t>0.782</a:t>
            </a:r>
            <a:r>
              <a:rPr lang="it-IT" sz="1800" b="0" i="0" u="none" strike="noStrike" baseline="0" dirty="0"/>
              <a:t>, 95% </a:t>
            </a:r>
            <a:r>
              <a:rPr lang="it-IT" sz="1800" b="0" u="none" strike="noStrike" baseline="0" dirty="0"/>
              <a:t>CI</a:t>
            </a:r>
            <a:r>
              <a:rPr lang="it-IT" sz="1800" b="0" i="0" u="none" strike="noStrike" baseline="0" dirty="0"/>
              <a:t>[0.747, 0.817]</a:t>
            </a:r>
            <a:endParaRPr lang="en-US" dirty="0"/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4DD1677E-8FFD-9C30-6410-4C78E8AB9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107" y="2476500"/>
            <a:ext cx="7396744" cy="431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839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200" dirty="0"/>
              <a:t>Quality assessing AI screenings </a:t>
            </a:r>
            <a:r>
              <a:rPr lang="da-DK" sz="3200" dirty="0"/>
              <a:t>(</a:t>
            </a:r>
            <a:r>
              <a:rPr lang="en-US" sz="3200" dirty="0"/>
              <a:t>continued</a:t>
            </a:r>
            <a:r>
              <a:rPr lang="da-DK" sz="3200" dirty="0"/>
              <a:t>)</a:t>
            </a:r>
            <a:endParaRPr lang="en-US" sz="33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44685"/>
            <a:ext cx="10654606" cy="1446140"/>
          </a:xfrm>
        </p:spPr>
        <p:txBody>
          <a:bodyPr/>
          <a:lstStyle/>
          <a:p>
            <a:r>
              <a:rPr lang="en-US" dirty="0"/>
              <a:t>Researchers and/or content-experts have slightly higher recalls.</a:t>
            </a:r>
          </a:p>
          <a:p>
            <a:r>
              <a:rPr lang="en-US" dirty="0"/>
              <a:t>We find in our own group researchers have, on average, a recall = </a:t>
            </a:r>
            <a:r>
              <a:rPr lang="en-US" sz="1800" b="1" i="0" u="none" strike="noStrike" baseline="0" dirty="0"/>
              <a:t>0.881</a:t>
            </a:r>
            <a:r>
              <a:rPr lang="en-US" sz="1800" b="0" i="0" u="none" strike="noStrike" baseline="0" dirty="0"/>
              <a:t>, 95% CI [0.823, 0.931]</a:t>
            </a:r>
            <a:r>
              <a:rPr lang="en-US" dirty="0"/>
              <a:t> </a:t>
            </a:r>
          </a:p>
          <a:p>
            <a:r>
              <a:rPr lang="en-US" dirty="0"/>
              <a:t>Using data from the Norwegian Institute for Public Health, comparing researcher-researcher screenings only, we find that the average recall drops to </a:t>
            </a:r>
            <a:r>
              <a:rPr lang="en-US" sz="1800" b="1" i="0" u="none" strike="noStrike" baseline="0" dirty="0"/>
              <a:t>0.839</a:t>
            </a:r>
            <a:r>
              <a:rPr lang="en-US" sz="1800" b="0" i="0" u="none" strike="noStrike" baseline="0" dirty="0"/>
              <a:t>, 95% CI [0.737, 0.920]. </a:t>
            </a:r>
          </a:p>
        </p:txBody>
      </p:sp>
      <p:pic>
        <p:nvPicPr>
          <p:cNvPr id="5" name="Picture 4" descr="A graph of a statistical analysis&#10;&#10;AI-generated content may be incorrect.">
            <a:extLst>
              <a:ext uri="{FF2B5EF4-FFF2-40B4-BE49-F238E27FC236}">
                <a16:creationId xmlns:a16="http://schemas.microsoft.com/office/drawing/2014/main" id="{4BFD04EE-581C-163D-47ED-E1F79462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1" y="3101340"/>
            <a:ext cx="10158611" cy="296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58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Based on the above-presented results, we have developed a benchmark scheme, which can be used to ensure the quality of title and abstract screenings.</a:t>
            </a:r>
          </a:p>
          <a:p>
            <a:endParaRPr lang="en-US" dirty="0"/>
          </a:p>
          <a:p>
            <a:r>
              <a:rPr lang="en-US" dirty="0"/>
              <a:t>In general, we recommend that GPT screenings must yield recalls above 75% to be usable in high-quality reviews. </a:t>
            </a:r>
          </a:p>
          <a:p>
            <a:endParaRPr lang="en-US" dirty="0"/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645417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Play a key role in testing the accuracy of using AI as a second screener.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benchmarks,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2025).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and GPT-5 models outperform,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or GPT-5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815487" y="917046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  <a:p>
            <a:pPr>
              <a:spcAft>
                <a:spcPts val="800"/>
              </a:spcAft>
            </a:pPr>
            <a:r>
              <a:rPr lang="en-US" dirty="0"/>
              <a:t>Supporting American and Chinese big tech companies.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6687120" y="917046"/>
            <a:ext cx="4791378" cy="51597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most often accurate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It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flexible. That is, it can rapidly be fitted to many different situations. 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on </a:t>
            </a:r>
            <a:r>
              <a:rPr lang="en-US" dirty="0" err="1"/>
              <a:t>Ollama</a:t>
            </a:r>
            <a:r>
              <a:rPr lang="en-US" dirty="0"/>
              <a:t> or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tools, such as priority and classifier screening,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EPPI Reviewer, Covidence, Meta-Reviewer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 Alternatively</a:t>
            </a:r>
            <a:r>
              <a:rPr lang="da-DK" dirty="0"/>
              <a:t>, </a:t>
            </a:r>
            <a:r>
              <a:rPr lang="en-US" dirty="0"/>
              <a:t>a shiny 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1012923"/>
            <a:ext cx="10158611" cy="1054001"/>
          </a:xfrm>
        </p:spPr>
        <p:txBody>
          <a:bodyPr/>
          <a:lstStyle/>
          <a:p>
            <a:r>
              <a:rPr lang="en-US" dirty="0"/>
              <a:t>Future perspectives beyond title and abstract screening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400300"/>
            <a:ext cx="10158611" cy="344477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We need local models to overcome legal issues. Extremely important when conducting full-text screening, data extraction, and risk-of-bias assessment. </a:t>
            </a:r>
          </a:p>
          <a:p>
            <a:pPr>
              <a:spcAft>
                <a:spcPts val="800"/>
              </a:spcAft>
            </a:pPr>
            <a:r>
              <a:rPr lang="en-US" dirty="0"/>
              <a:t>Many countries’ licensing agreements with publishers do not allow uploading PDF/full text to remote commercial AIs. Even if they do, it might be problematic due to the </a:t>
            </a:r>
            <a:r>
              <a:rPr lang="en-US" dirty="0">
                <a:hlinkClick r:id="rId3"/>
              </a:rPr>
              <a:t>European AI Act</a:t>
            </a:r>
            <a:r>
              <a:rPr lang="en-US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THE FUTURE IS AI! I project that screening, as we know it today, will be largely be eradicated within the next 10 years.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871" y="819245"/>
            <a:ext cx="4618612" cy="825401"/>
          </a:xfrm>
        </p:spPr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41871" y="2754487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https://github.com/MikkelVembye/IRM2026/blob/main/Test%20screening.R</a:t>
            </a:r>
            <a:r>
              <a:rPr lang="en-US" dirty="0"/>
              <a:t> </a:t>
            </a:r>
          </a:p>
        </p:txBody>
      </p:sp>
      <p:pic>
        <p:nvPicPr>
          <p:cNvPr id="6" name="Picture 5" descr="A robot touching a finger&#10;&#10;AI-generated content may be incorrect.">
            <a:extLst>
              <a:ext uri="{FF2B5EF4-FFF2-40B4-BE49-F238E27FC236}">
                <a16:creationId xmlns:a16="http://schemas.microsoft.com/office/drawing/2014/main" id="{65376440-27A5-0805-8CDA-9BBA38F5E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019" y="534806"/>
            <a:ext cx="2739000" cy="273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261" y="354768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2262" y="1246150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(2026).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(0.3.2). CRAN. https://doi.org/10.32614/CRAN.package.AIscreenR</a:t>
            </a:r>
            <a:endParaRPr lang="en-US" sz="1200" dirty="0"/>
          </a:p>
          <a:p>
            <a:pPr algn="l"/>
            <a:r>
              <a:rPr lang="da-DK" sz="1200" dirty="0"/>
              <a:t>Vembye, M. H., Christensen, J., Mølgaard, A. B., &amp; Schytt, F. L. W. (2025). </a:t>
            </a:r>
            <a:r>
              <a:rPr lang="en-US" sz="1200" i="0" u="none" strike="noStrike" dirty="0">
                <a:effectLst/>
              </a:rPr>
              <a:t>Generative Pretrained Transformer Models Can Function as Highly Reliable Second Screeners of Titles and Abstracts in Systematic Reviews: A Proof of Concept and Common Guidelines</a:t>
            </a:r>
            <a:r>
              <a:rPr lang="da-DK" sz="1200" dirty="0"/>
              <a:t>. </a:t>
            </a:r>
            <a:r>
              <a:rPr lang="da-DK" sz="1200" i="1" dirty="0"/>
              <a:t>Psychological Methods</a:t>
            </a:r>
            <a:r>
              <a:rPr lang="da-DK" sz="1200" dirty="0"/>
              <a:t>. 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rial" panose="020B0604020202020204" pitchFamily="34" charset="0"/>
              </a:rPr>
              <a:t>https://doi.org/10.1037/met0000769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1347</TotalTime>
  <Words>2271</Words>
  <Application>Microsoft Office PowerPoint</Application>
  <PresentationFormat>Widescreen</PresentationFormat>
  <Paragraphs>165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High-Quality Systematic Reviews [workshop]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Quality assessing AI screenings</vt:lpstr>
      <vt:lpstr>Quality assessing AI screenings (continued)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 </vt:lpstr>
      <vt:lpstr>Future perspectives beyond title and abstract screening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23</cp:revision>
  <dcterms:created xsi:type="dcterms:W3CDTF">2026-04-15T14:24:37Z</dcterms:created>
  <dcterms:modified xsi:type="dcterms:W3CDTF">2026-04-23T08:18:11Z</dcterms:modified>
</cp:coreProperties>
</file>